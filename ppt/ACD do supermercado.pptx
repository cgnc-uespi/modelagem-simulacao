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59" r:id="rId4"/>
    <p:sldId id="274" r:id="rId5"/>
    <p:sldId id="275" r:id="rId6"/>
    <p:sldId id="273" r:id="rId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5288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594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Modelagem</a:t>
            </a:r>
            <a:r>
              <a:rPr lang="en-US" dirty="0"/>
              <a:t> e </a:t>
            </a:r>
            <a:r>
              <a:rPr lang="en-US" dirty="0" err="1"/>
              <a:t>Simulação</a:t>
            </a:r>
            <a:br>
              <a:rPr lang="en-US" dirty="0"/>
            </a:br>
            <a:r>
              <a:rPr lang="en-US" dirty="0"/>
              <a:t>ACD do </a:t>
            </a:r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supermercado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Aula anterior</a:t>
            </a:r>
            <a:endParaRPr dirty="0"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conceitual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Abstração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Diagrama de ciclos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supermercado</a:t>
            </a:r>
            <a:endParaRPr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111ED09-1216-9356-F19F-851E7A1022AF}"/>
              </a:ext>
            </a:extLst>
          </p:cNvPr>
          <p:cNvGrpSpPr/>
          <p:nvPr/>
        </p:nvGrpSpPr>
        <p:grpSpPr>
          <a:xfrm>
            <a:off x="2154621" y="2028496"/>
            <a:ext cx="4540469" cy="3531477"/>
            <a:chOff x="2154621" y="2028496"/>
            <a:chExt cx="4540469" cy="353147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87E5931-6B95-CF51-6B24-2FCB42D901D1}"/>
                </a:ext>
              </a:extLst>
            </p:cNvPr>
            <p:cNvSpPr/>
            <p:nvPr/>
          </p:nvSpPr>
          <p:spPr>
            <a:xfrm>
              <a:off x="2953407" y="2385848"/>
              <a:ext cx="2942897" cy="2816773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Cliente</a:t>
              </a:r>
            </a:p>
          </p:txBody>
        </p: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A781630B-8EAC-41C6-245B-EE1F2F1AEC92}"/>
                </a:ext>
              </a:extLst>
            </p:cNvPr>
            <p:cNvSpPr/>
            <p:nvPr/>
          </p:nvSpPr>
          <p:spPr>
            <a:xfrm>
              <a:off x="5097518" y="3573516"/>
              <a:ext cx="1597572" cy="44143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Chegar</a:t>
              </a: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5BD870B-2C43-88B1-924A-DBCA65ED64F6}"/>
                </a:ext>
              </a:extLst>
            </p:cNvPr>
            <p:cNvSpPr/>
            <p:nvPr/>
          </p:nvSpPr>
          <p:spPr>
            <a:xfrm>
              <a:off x="2154621" y="3573516"/>
              <a:ext cx="1597572" cy="44143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Pagar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F1B531-42B0-E2AF-0116-02096A11B473}"/>
                </a:ext>
              </a:extLst>
            </p:cNvPr>
            <p:cNvSpPr/>
            <p:nvPr/>
          </p:nvSpPr>
          <p:spPr>
            <a:xfrm>
              <a:off x="4046482" y="4845269"/>
              <a:ext cx="756745" cy="71470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B4EAAAD-DC3F-4265-1B1E-1B7951453EFE}"/>
                </a:ext>
              </a:extLst>
            </p:cNvPr>
            <p:cNvSpPr/>
            <p:nvPr/>
          </p:nvSpPr>
          <p:spPr>
            <a:xfrm>
              <a:off x="4046482" y="2028496"/>
              <a:ext cx="756745" cy="71470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supermercado</a:t>
            </a:r>
            <a:endParaRPr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01EFF56-C76B-1221-D36C-67AD907FE1DA}"/>
              </a:ext>
            </a:extLst>
          </p:cNvPr>
          <p:cNvGrpSpPr/>
          <p:nvPr/>
        </p:nvGrpSpPr>
        <p:grpSpPr>
          <a:xfrm>
            <a:off x="2154621" y="2028496"/>
            <a:ext cx="3741683" cy="3174125"/>
            <a:chOff x="2154621" y="2028496"/>
            <a:chExt cx="3741683" cy="3174125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87E5931-6B95-CF51-6B24-2FCB42D901D1}"/>
                </a:ext>
              </a:extLst>
            </p:cNvPr>
            <p:cNvSpPr/>
            <p:nvPr/>
          </p:nvSpPr>
          <p:spPr>
            <a:xfrm>
              <a:off x="2953407" y="2385848"/>
              <a:ext cx="2942897" cy="2816773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Caixa de </a:t>
              </a:r>
            </a:p>
            <a:p>
              <a:pPr algn="ctr"/>
              <a:r>
                <a:rPr lang="pt-BR" dirty="0"/>
                <a:t>pagamentos</a:t>
              </a:r>
            </a:p>
          </p:txBody>
        </p: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14B3773E-A75D-5172-7B84-8227B2B1ADFF}"/>
                </a:ext>
              </a:extLst>
            </p:cNvPr>
            <p:cNvSpPr/>
            <p:nvPr/>
          </p:nvSpPr>
          <p:spPr>
            <a:xfrm>
              <a:off x="2154621" y="3573516"/>
              <a:ext cx="1597572" cy="44143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Pagar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C5EBB97-BE18-7B09-BEAD-BC7195E86DE1}"/>
                </a:ext>
              </a:extLst>
            </p:cNvPr>
            <p:cNvSpPr/>
            <p:nvPr/>
          </p:nvSpPr>
          <p:spPr>
            <a:xfrm>
              <a:off x="4046482" y="2028496"/>
              <a:ext cx="756745" cy="71470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8759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Exemplo</a:t>
            </a:r>
            <a:r>
              <a:rPr lang="en-US" dirty="0"/>
              <a:t> do </a:t>
            </a:r>
            <a:r>
              <a:rPr lang="en-US" dirty="0" err="1"/>
              <a:t>supermercado</a:t>
            </a:r>
            <a:endParaRPr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4D94682-F98C-0064-7444-19168C150640}"/>
              </a:ext>
            </a:extLst>
          </p:cNvPr>
          <p:cNvGrpSpPr/>
          <p:nvPr/>
        </p:nvGrpSpPr>
        <p:grpSpPr>
          <a:xfrm>
            <a:off x="1030013" y="2133599"/>
            <a:ext cx="7083973" cy="3531477"/>
            <a:chOff x="1602827" y="2123089"/>
            <a:chExt cx="7083973" cy="3531477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EA7F002E-673B-D877-ED8C-B2A616FDB84F}"/>
                </a:ext>
              </a:extLst>
            </p:cNvPr>
            <p:cNvGrpSpPr/>
            <p:nvPr/>
          </p:nvGrpSpPr>
          <p:grpSpPr>
            <a:xfrm>
              <a:off x="1602827" y="2301763"/>
              <a:ext cx="2942897" cy="3174125"/>
              <a:chOff x="2953407" y="2028496"/>
              <a:chExt cx="2942897" cy="3174125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131A2AF-6B25-7BC8-0FBB-7A23AEAD1B9C}"/>
                  </a:ext>
                </a:extLst>
              </p:cNvPr>
              <p:cNvSpPr/>
              <p:nvPr/>
            </p:nvSpPr>
            <p:spPr>
              <a:xfrm>
                <a:off x="2953407" y="2385848"/>
                <a:ext cx="2942897" cy="2816773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Caixa de </a:t>
                </a:r>
              </a:p>
              <a:p>
                <a:pPr algn="ctr"/>
                <a:r>
                  <a:rPr lang="pt-BR" dirty="0"/>
                  <a:t>pagamentos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1DED180-EA2C-4DB9-324F-9DABB1E6CD1B}"/>
                  </a:ext>
                </a:extLst>
              </p:cNvPr>
              <p:cNvSpPr/>
              <p:nvPr/>
            </p:nvSpPr>
            <p:spPr>
              <a:xfrm>
                <a:off x="4046482" y="2028496"/>
                <a:ext cx="756745" cy="714704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/>
                  <a:t>f2(</a:t>
                </a:r>
                <a:r>
                  <a:rPr lang="pt-BR" sz="1200" dirty="0" err="1"/>
                  <a:t>x</a:t>
                </a:r>
                <a:r>
                  <a:rPr lang="pt-BR" sz="1200" dirty="0"/>
                  <a:t>)</a:t>
                </a:r>
              </a:p>
            </p:txBody>
          </p: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86EC292E-FBFA-7C9E-F6B4-016F5D0502E7}"/>
                </a:ext>
              </a:extLst>
            </p:cNvPr>
            <p:cNvGrpSpPr/>
            <p:nvPr/>
          </p:nvGrpSpPr>
          <p:grpSpPr>
            <a:xfrm>
              <a:off x="4146331" y="2123089"/>
              <a:ext cx="4540469" cy="3531477"/>
              <a:chOff x="2154621" y="2028496"/>
              <a:chExt cx="4540469" cy="3531477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B9ECE86-5356-EB7E-F4D2-E04EEE014FB9}"/>
                  </a:ext>
                </a:extLst>
              </p:cNvPr>
              <p:cNvSpPr/>
              <p:nvPr/>
            </p:nvSpPr>
            <p:spPr>
              <a:xfrm>
                <a:off x="2953407" y="2385848"/>
                <a:ext cx="2942897" cy="2816773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Cliente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7A6E1B89-240C-42C1-FAE5-C3744EDE4848}"/>
                  </a:ext>
                </a:extLst>
              </p:cNvPr>
              <p:cNvSpPr/>
              <p:nvPr/>
            </p:nvSpPr>
            <p:spPr>
              <a:xfrm>
                <a:off x="5097518" y="3573516"/>
                <a:ext cx="1597572" cy="44143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Chegar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EEA20F33-99C7-975F-82F7-0533BC1DA600}"/>
                  </a:ext>
                </a:extLst>
              </p:cNvPr>
              <p:cNvSpPr/>
              <p:nvPr/>
            </p:nvSpPr>
            <p:spPr>
              <a:xfrm>
                <a:off x="2154621" y="3573516"/>
                <a:ext cx="1597572" cy="44143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Pagar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CE8476F-5CE0-C164-610B-958A9AD59DC9}"/>
                  </a:ext>
                </a:extLst>
              </p:cNvPr>
              <p:cNvSpPr/>
              <p:nvPr/>
            </p:nvSpPr>
            <p:spPr>
              <a:xfrm>
                <a:off x="4046482" y="4845269"/>
                <a:ext cx="756745" cy="714704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FF020F4-EA56-5062-64C5-D21C0761A034}"/>
                  </a:ext>
                </a:extLst>
              </p:cNvPr>
              <p:cNvSpPr/>
              <p:nvPr/>
            </p:nvSpPr>
            <p:spPr>
              <a:xfrm>
                <a:off x="4046482" y="2028496"/>
                <a:ext cx="756745" cy="714704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/>
                  <a:t>f1(</a:t>
                </a:r>
                <a:r>
                  <a:rPr lang="pt-BR" sz="1200" dirty="0" err="1"/>
                  <a:t>x</a:t>
                </a:r>
                <a:r>
                  <a:rPr lang="pt-BR" sz="1200" dirty="0"/>
                  <a:t>)</a:t>
                </a:r>
              </a:p>
            </p:txBody>
          </p:sp>
        </p:grp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BE291F4-1D74-0F66-F806-745E5C62ECF0}"/>
              </a:ext>
            </a:extLst>
          </p:cNvPr>
          <p:cNvSpPr txBox="1"/>
          <p:nvPr/>
        </p:nvSpPr>
        <p:spPr>
          <a:xfrm>
            <a:off x="4338465" y="1861348"/>
            <a:ext cx="3018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f1(</a:t>
            </a:r>
            <a:r>
              <a:rPr lang="pt-BR" dirty="0" err="1"/>
              <a:t>x</a:t>
            </a:r>
            <a:r>
              <a:rPr lang="pt-BR" dirty="0"/>
              <a:t>) é exponencial com média 6.38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A722950-6DD5-9A3F-F16E-8CC504815366}"/>
              </a:ext>
            </a:extLst>
          </p:cNvPr>
          <p:cNvSpPr txBox="1"/>
          <p:nvPr/>
        </p:nvSpPr>
        <p:spPr>
          <a:xfrm>
            <a:off x="1153830" y="1889743"/>
            <a:ext cx="3018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f2(</a:t>
            </a:r>
            <a:r>
              <a:rPr lang="pt-BR" dirty="0" err="1"/>
              <a:t>x</a:t>
            </a:r>
            <a:r>
              <a:rPr lang="pt-BR" dirty="0"/>
              <a:t>) é exponencial com média 30.0</a:t>
            </a:r>
          </a:p>
        </p:txBody>
      </p:sp>
    </p:spTree>
    <p:extLst>
      <p:ext uri="{BB962C8B-B14F-4D97-AF65-F5344CB8AC3E}">
        <p14:creationId xmlns:p14="http://schemas.microsoft.com/office/powerpoint/2010/main" val="1114296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3 “Criação do modelo conceitual” do livro texto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95</Words>
  <Application>Microsoft Macintosh PowerPoint</Application>
  <PresentationFormat>Apresentação na tela (4:3)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Modelagem e Simulação ACD do exemplo do supermercado</vt:lpstr>
      <vt:lpstr>Aula anterior</vt:lpstr>
      <vt:lpstr>Exemplo do supermercado</vt:lpstr>
      <vt:lpstr>Exemplo do supermercado</vt:lpstr>
      <vt:lpstr>Exemplo do supermercado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e Simulação Abstração e ACD</dc:title>
  <cp:lastModifiedBy>Carlos Giovanni N. de Carvalho</cp:lastModifiedBy>
  <cp:revision>4</cp:revision>
  <cp:lastPrinted>2024-05-07T10:41:33Z</cp:lastPrinted>
  <dcterms:modified xsi:type="dcterms:W3CDTF">2024-05-09T18:05:17Z</dcterms:modified>
</cp:coreProperties>
</file>