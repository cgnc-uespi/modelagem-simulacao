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94"/>
  </p:normalViewPr>
  <p:slideViewPr>
    <p:cSldViewPr snapToGrid="0">
      <p:cViewPr varScale="1">
        <p:scale>
          <a:sx n="121" d="100"/>
          <a:sy n="121" d="100"/>
        </p:scale>
        <p:origin x="146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209310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 err="1"/>
              <a:t>Modelagem</a:t>
            </a:r>
            <a:r>
              <a:rPr lang="en-US" dirty="0"/>
              <a:t> e </a:t>
            </a:r>
            <a:r>
              <a:rPr lang="en-US" dirty="0" err="1"/>
              <a:t>Simulação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Simulação</a:t>
            </a:r>
            <a:r>
              <a:rPr lang="en-US" dirty="0"/>
              <a:t> manual e </a:t>
            </a:r>
            <a:r>
              <a:rPr lang="en-US" dirty="0" err="1"/>
              <a:t>especificação</a:t>
            </a:r>
            <a:r>
              <a:rPr lang="en-US" dirty="0"/>
              <a:t> de </a:t>
            </a:r>
            <a:r>
              <a:rPr lang="en-US" dirty="0" err="1"/>
              <a:t>modelos</a:t>
            </a:r>
            <a:endParaRPr dirty="0"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Prof. Dr. Carlos Giovanni N. Carvalho</a:t>
            </a:r>
            <a:endParaRPr/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/>
          </a:p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 sz="2400"/>
              <a:t>cgnc@ctu.uespi.br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Aula Anterior</a:t>
            </a:r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Modelo conceitual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Abstração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Diagrama de ciclos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Modelo conceitual (continuação)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Simulação manual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Especificação de modelos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Simulação Manual</a:t>
            </a:r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 lógica do sistema deve estar bem descrita</a:t>
            </a:r>
            <a:endParaRPr/>
          </a:p>
          <a:p>
            <a:pPr marL="742950" lvl="1" indent="-28575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Uma das melhores maneiras é a simulação manual</a:t>
            </a:r>
            <a:endParaRPr/>
          </a:p>
          <a:p>
            <a:pPr marL="1143000" lvl="2" indent="-22860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Pode ser usado o próprio ACD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Desenhos do ACD são usados para a simulação</a:t>
            </a:r>
            <a:endParaRPr/>
          </a:p>
          <a:p>
            <a:pPr marL="742950" lvl="1" indent="-28575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O </a:t>
            </a:r>
            <a:r>
              <a:rPr lang="en-US" i="1"/>
              <a:t>estado corrente</a:t>
            </a:r>
            <a:r>
              <a:rPr lang="en-US"/>
              <a:t> do modelo é descrito pela posição de cada entidade numa fila</a:t>
            </a:r>
            <a:endParaRPr/>
          </a:p>
          <a:p>
            <a:pPr marL="742950" lvl="1" indent="-28575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Um </a:t>
            </a:r>
            <a:r>
              <a:rPr lang="en-US" i="1"/>
              <a:t>evento</a:t>
            </a:r>
            <a:r>
              <a:rPr lang="en-US"/>
              <a:t> é uma mudança no estado num determinado instante</a:t>
            </a:r>
            <a:endParaRPr/>
          </a:p>
          <a:p>
            <a:pPr marL="742950" lvl="1" indent="-28575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O tempo de uma atividade pode ser anotado numa lista de eventos</a:t>
            </a:r>
            <a:endParaRPr/>
          </a:p>
          <a:p>
            <a:pPr marL="742950" lvl="1" indent="-28575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A finalização de atividade é sempre </a:t>
            </a:r>
            <a:r>
              <a:rPr lang="en-US" i="1"/>
              <a:t>evento limite</a:t>
            </a:r>
            <a:endParaRPr i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Simulação Manual</a:t>
            </a:r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O início de cada atividade é determinado por </a:t>
            </a:r>
            <a:r>
              <a:rPr lang="en-US" i="1"/>
              <a:t>eventos condicionais</a:t>
            </a:r>
            <a:endParaRPr i="1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Benefício da simulação manual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Estabelecimento de prioridades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Método das três fases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Fase A. Verifique os tempos de término para todas as atividades em progresso. Determine a que terminará antes. Avance o relógio de simulação para este instante.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Simulação Manual</a:t>
            </a:r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Fase B. Para a atividade que terminar, mova as entidades para suas filas apropriadas.</a:t>
            </a:r>
            <a:endParaRPr/>
          </a:p>
          <a:p>
            <a:pPr marL="742950" lvl="1" indent="-28575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Fase C. Procure as atividades em ordem segundo sua numeração. Inicie qualquer atividade que possa começar e mova as entidades apropriadas das filas para as atividades. Amostre um tempo de duração da atividade segundo uma distribuição.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Estrutura comum em simulação de eventos discretos</a:t>
            </a:r>
            <a:endParaRPr/>
          </a:p>
          <a:p>
            <a:pPr marL="742950" lvl="1" indent="-28575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Avance o relógio de simulação para o próximo evento;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Simulação Manual</a:t>
            </a:r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Execute os eventos-limite (quando terminam as atividades).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Execute os eventos condicionais (quando as atividades se iniciam)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Exemplo do </a:t>
            </a:r>
            <a:r>
              <a:rPr lang="en-US" i="1"/>
              <a:t>Pub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Descrição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“beber” dura 4 minutos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“encher” dura 3 minutos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Inicialmente existem disponíveis: 3 copos, 3 clientes e 1 garçonete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Simulação Manual</a:t>
            </a:r>
            <a:endParaRPr/>
          </a:p>
        </p:txBody>
      </p:sp>
      <p:sp>
        <p:nvSpPr>
          <p:cNvPr id="127" name="Google Shape;127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Tabela</a:t>
            </a:r>
            <a:endParaRPr/>
          </a:p>
        </p:txBody>
      </p:sp>
      <p:pic>
        <p:nvPicPr>
          <p:cNvPr id="128" name="Google Shape;128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3300" y="0"/>
            <a:ext cx="7136027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Simulação Manual</a:t>
            </a:r>
            <a:endParaRPr/>
          </a:p>
        </p:txBody>
      </p:sp>
      <p:sp>
        <p:nvSpPr>
          <p:cNvPr id="134" name="Google Shape;134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42950" lvl="1" indent="-107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pic>
        <p:nvPicPr>
          <p:cNvPr id="135" name="Google Shape;135;p21"/>
          <p:cNvPicPr preferRelativeResize="0"/>
          <p:nvPr/>
        </p:nvPicPr>
        <p:blipFill rotWithShape="1">
          <a:blip r:embed="rId3">
            <a:alphaModFix/>
          </a:blip>
          <a:srcRect b="58621"/>
          <a:stretch/>
        </p:blipFill>
        <p:spPr>
          <a:xfrm>
            <a:off x="885572" y="1828800"/>
            <a:ext cx="7428111" cy="4046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Simulação Manual</a:t>
            </a:r>
            <a:endParaRPr/>
          </a:p>
        </p:txBody>
      </p:sp>
      <p:sp>
        <p:nvSpPr>
          <p:cNvPr id="134" name="Google Shape;134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42950" lvl="1" indent="-107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135" name="Google Shape;135;p21"/>
          <p:cNvPicPr preferRelativeResize="0"/>
          <p:nvPr/>
        </p:nvPicPr>
        <p:blipFill rotWithShape="1">
          <a:blip r:embed="rId3">
            <a:alphaModFix/>
          </a:blip>
          <a:srcRect t="41379"/>
          <a:stretch/>
        </p:blipFill>
        <p:spPr>
          <a:xfrm>
            <a:off x="688428" y="1513489"/>
            <a:ext cx="7767144" cy="50698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67833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Simulação Manual</a:t>
            </a:r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 simulação pode continuar até um tempo preestabelecido</a:t>
            </a:r>
            <a:endParaRPr/>
          </a:p>
          <a:p>
            <a:pPr marL="742950" lvl="1" indent="-28575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Ou até ocorrer algum acontecimento específico</a:t>
            </a:r>
            <a:endParaRPr/>
          </a:p>
          <a:p>
            <a:pPr marL="1143000" lvl="2" indent="-22860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Exemplo: Após cliente beber mais de quatro vezes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Podemos coletar dados estatísticos desse tipo de simulação</a:t>
            </a:r>
            <a:endParaRPr/>
          </a:p>
          <a:p>
            <a:pPr marL="742950" lvl="1" indent="-28575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Embora muito dispendioso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Os tempos do exemplo do </a:t>
            </a:r>
            <a:r>
              <a:rPr lang="en-US" i="1"/>
              <a:t>pub</a:t>
            </a:r>
            <a:r>
              <a:rPr lang="en-US"/>
              <a:t> são constantes, mas nada impede de seguirmos uma distribuição estatística (exponencial, uniforme, normal, etc.)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Especificação de Modelos</a:t>
            </a:r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 modelagem conceitual é pouco explorada na literatura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Mas é fundamental para um modelo computacional completo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Consequentemente levará a um modelo operacional válido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 especificação do modelo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É um documento contendo o modelo conceitual mais amplo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Especificação de Modelos</a:t>
            </a:r>
            <a:endParaRPr/>
          </a:p>
        </p:txBody>
      </p:sp>
      <p:sp>
        <p:nvSpPr>
          <p:cNvPr id="153" name="Google Shape;153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342900" lvl="0" indent="-35814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 especificação do modelo pode incluir:</a:t>
            </a:r>
            <a:endParaRPr/>
          </a:p>
          <a:p>
            <a:pPr marL="742950" lvl="1" indent="-299085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Formas de representação como o ACD</a:t>
            </a:r>
            <a:endParaRPr/>
          </a:p>
          <a:p>
            <a:pPr marL="742950" lvl="1" indent="-299085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Fluxogramas</a:t>
            </a:r>
            <a:endParaRPr/>
          </a:p>
          <a:p>
            <a:pPr marL="742950" lvl="1" indent="-299085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Alguns itens:</a:t>
            </a:r>
            <a:endParaRPr/>
          </a:p>
          <a:p>
            <a:pPr marL="1143000" lvl="2" indent="-24003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Objetivos – identificação de problemas (gargalos, filas excessivas, baixa produtividade) ou verificação de atendimento de metas (níveis de serviço, capacidades operacionais, etc.)</a:t>
            </a:r>
            <a:endParaRPr/>
          </a:p>
          <a:p>
            <a:pPr marL="1143000" lvl="2" indent="-24003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Conteúdo – escopo do modelo, nível de detalhamento, fluxos e processos</a:t>
            </a:r>
            <a:endParaRPr/>
          </a:p>
          <a:p>
            <a:pPr marL="1143000" lvl="2" indent="-24003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Entradas – parâmetros que alimentam o simulador por meio de um memorial de dados de entrada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Especificação de Modelos</a:t>
            </a:r>
            <a:endParaRPr/>
          </a:p>
        </p:txBody>
      </p:sp>
      <p:sp>
        <p:nvSpPr>
          <p:cNvPr id="159" name="Google Shape;159;p2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0" lvl="2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Saídas – medidas de desempenho que representam as respostas do sistema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Hipóteses e simplificações do modelo – premissa ou suposição que assumimos ser verdadeira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Definições de rodadas – cenários a serem simulados (conjunto fixo de dados de entrada), e/ou definições do planejamento experimental ou otimização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Especificação de Modelos</a:t>
            </a:r>
            <a:endParaRPr/>
          </a:p>
        </p:txBody>
      </p:sp>
      <p:sp>
        <p:nvSpPr>
          <p:cNvPr id="165" name="Google Shape;165;p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Ver exemplo do Apêndice V do livro texto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Projeto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Especificação da Modelagem Conceitual</a:t>
            </a:r>
            <a:endParaRPr/>
          </a:p>
          <a:p>
            <a:pPr marL="1600200" lvl="3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Avaliação do desenho logístico da Júpiter 2 em Alpha Centuri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Leitura Complementar</a:t>
            </a:r>
            <a:endParaRPr/>
          </a:p>
        </p:txBody>
      </p:sp>
      <p:sp>
        <p:nvSpPr>
          <p:cNvPr id="171" name="Google Shape;171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Bibliografia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Capítulo 3 “Criação do modelo conceitual” do livro texto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Apêndice V “Especificação do modelo de simulação” do livro texto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592</Words>
  <Application>Microsoft Macintosh PowerPoint</Application>
  <PresentationFormat>Apresentação na tela (4:3)</PresentationFormat>
  <Paragraphs>78</Paragraphs>
  <Slides>16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Modelagem e Simulação  Simulação manual e especificação de modelos</vt:lpstr>
      <vt:lpstr>Aula Anterior</vt:lpstr>
      <vt:lpstr>Agenda</vt:lpstr>
      <vt:lpstr>Simulação Manual</vt:lpstr>
      <vt:lpstr>Simulação Manual</vt:lpstr>
      <vt:lpstr>Simulação Manual</vt:lpstr>
      <vt:lpstr>Simulação Manual</vt:lpstr>
      <vt:lpstr>Simulação Manual</vt:lpstr>
      <vt:lpstr>Simulação Manual</vt:lpstr>
      <vt:lpstr>Simulação Manual</vt:lpstr>
      <vt:lpstr>Simulação Manual</vt:lpstr>
      <vt:lpstr>Especificação de Modelos</vt:lpstr>
      <vt:lpstr>Especificação de Modelos</vt:lpstr>
      <vt:lpstr>Especificação de Modelos</vt:lpstr>
      <vt:lpstr>Especificação de Modelos</vt:lpstr>
      <vt:lpstr>Leitura Complementar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Modelagem e Simulação Simulação manual e especificação de modelos</dc:title>
  <cp:lastModifiedBy>Carlos Giovanni N. de Carvalho</cp:lastModifiedBy>
  <cp:revision>2</cp:revision>
  <dcterms:modified xsi:type="dcterms:W3CDTF">2024-05-14T17:50:56Z</dcterms:modified>
</cp:coreProperties>
</file>