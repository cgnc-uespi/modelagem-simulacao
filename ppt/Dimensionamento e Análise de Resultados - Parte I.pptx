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21" d="100"/>
          <a:sy n="121" d="100"/>
        </p:scale>
        <p:origin x="146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Giovanni N. de Carvalho" userId="2892a39a5793b0a7" providerId="LiveId" clId="{CF03CE52-54AD-E74A-9048-2DE51379CAB2}"/>
    <pc:docChg chg="custSel modSld">
      <pc:chgData name="Carlos Giovanni N. de Carvalho" userId="2892a39a5793b0a7" providerId="LiveId" clId="{CF03CE52-54AD-E74A-9048-2DE51379CAB2}" dt="2024-05-28T16:56:36.898" v="44" actId="20577"/>
      <pc:docMkLst>
        <pc:docMk/>
      </pc:docMkLst>
      <pc:sldChg chg="modSp mod">
        <pc:chgData name="Carlos Giovanni N. de Carvalho" userId="2892a39a5793b0a7" providerId="LiveId" clId="{CF03CE52-54AD-E74A-9048-2DE51379CAB2}" dt="2024-05-28T16:56:36.898" v="44" actId="20577"/>
        <pc:sldMkLst>
          <pc:docMk/>
          <pc:sldMk cId="0" sldId="256"/>
        </pc:sldMkLst>
        <pc:spChg chg="mod">
          <ac:chgData name="Carlos Giovanni N. de Carvalho" userId="2892a39a5793b0a7" providerId="LiveId" clId="{CF03CE52-54AD-E74A-9048-2DE51379CAB2}" dt="2024-05-28T16:56:36.898" v="44" actId="20577"/>
          <ac:spMkLst>
            <pc:docMk/>
            <pc:sldMk cId="0" sldId="256"/>
            <ac:spMk id="8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ca275b349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ca275b349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ca275b349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gca275b349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ca275b3495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ca275b3495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 err="1"/>
              <a:t>Modelagem</a:t>
            </a:r>
            <a:r>
              <a:rPr lang="en-US" dirty="0"/>
              <a:t> e </a:t>
            </a:r>
            <a:r>
              <a:rPr lang="en-US" dirty="0" err="1"/>
              <a:t>Simulação</a:t>
            </a:r>
            <a:br>
              <a:rPr lang="en-US" dirty="0"/>
            </a:br>
            <a:r>
              <a:rPr lang="en-US" dirty="0" err="1"/>
              <a:t>Dimensionamento</a:t>
            </a:r>
            <a:r>
              <a:rPr lang="en-US" dirty="0"/>
              <a:t> e </a:t>
            </a:r>
            <a:r>
              <a:rPr lang="en-US" dirty="0" err="1"/>
              <a:t>análise</a:t>
            </a:r>
            <a:r>
              <a:rPr lang="en-US" dirty="0"/>
              <a:t> de </a:t>
            </a:r>
            <a:r>
              <a:rPr lang="en-US" dirty="0" err="1"/>
              <a:t>resultados</a:t>
            </a:r>
            <a:endParaRPr dirty="0"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/>
              <a:t>Prof. Dr. Carlos Giovanni N. Carvalho</a:t>
            </a:r>
            <a:endParaRPr/>
          </a:p>
          <a:p>
            <a:pPr marL="0" lvl="0" indent="0" algn="ctr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endParaRPr/>
          </a:p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sz="2400"/>
              <a:t>cgnc@ctu.uespi.br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Aula Anterior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Verificação e validação de modelos (continuação)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Técnicas de validação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Validade dos dados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Dimensionamento e Análise dos Resultados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Introdução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Tipos de regimes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Transitório e permanente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Tipos de simulação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Terminal e não terminal</a:t>
            </a:r>
            <a:endParaRPr/>
          </a:p>
          <a:p>
            <a:pPr marL="742950" lvl="1" indent="-349250" algn="l" rtl="0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 sz="2800"/>
              <a:t>Medidas de desempenho</a:t>
            </a:r>
            <a:endParaRPr sz="2800"/>
          </a:p>
          <a:p>
            <a:pPr marL="742950" lvl="1" indent="-349250" algn="l" rtl="0">
              <a:spcBef>
                <a:spcPts val="560"/>
              </a:spcBef>
              <a:spcAft>
                <a:spcPts val="0"/>
              </a:spcAft>
              <a:buSzPts val="2800"/>
              <a:buChar char="–"/>
            </a:pPr>
            <a:r>
              <a:rPr lang="en-US" sz="2800"/>
              <a:t>Replicação e rodada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Ao final da verificação e validação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O modelo está pronto para ser usado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Em experimentos estatísticos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Entradas com números aleatórios geram saídas aleatórias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Para cada replicação ou experimento</a:t>
            </a:r>
            <a:endParaRPr/>
          </a:p>
          <a:p>
            <a:pPr marL="1143000" lvl="2" indent="-22860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Com uma replicação não há o que inferir do sistema</a:t>
            </a:r>
            <a:endParaRPr/>
          </a:p>
          <a:p>
            <a:pPr marL="342900" lvl="0" indent="-34290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Ao rodar </a:t>
            </a:r>
            <a:r>
              <a:rPr lang="en-US" i="1"/>
              <a:t>n</a:t>
            </a:r>
            <a:r>
              <a:rPr lang="en-US"/>
              <a:t> vezes o modelo teremos</a:t>
            </a:r>
            <a:endParaRPr/>
          </a:p>
          <a:p>
            <a:pPr marL="742950" lvl="1" indent="-285750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Um conjunto de valores cuja média pode representar um bom estimador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Introdução</a:t>
            </a:r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precisão desse estimador pode ser avaliada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Por variância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Quanto menor a variância, melhor a precisão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Dois pontos a serem considerados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Qual a variância estimada?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Quantas observações devem ser realizadas para chegar a uma dada precisão?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Tipos de Regimes </a:t>
            </a:r>
            <a:br>
              <a:rPr lang="en-US"/>
            </a:br>
            <a:r>
              <a:rPr lang="en-US"/>
              <a:t>(Transitório vs Permanente)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Se o sistema está fortemente relacionado com as suas condições iniciais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Regime transitório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As condições iniciais não afetam mais o comportamento do sistema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Regime permanente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O regime transitório normalmente é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Mais complexo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Pouco conclusivo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Tipos de Regimes </a:t>
            </a:r>
            <a:br>
              <a:rPr lang="en-US"/>
            </a:br>
            <a:r>
              <a:rPr lang="en-US"/>
              <a:t>(Transitório vs Permanente)</a:t>
            </a:r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 do jogo de dados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Estimador</a:t>
            </a:r>
            <a:endParaRPr/>
          </a:p>
        </p:txBody>
      </p:sp>
      <p:pic>
        <p:nvPicPr>
          <p:cNvPr id="122" name="Google Shape;122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44700" y="2886075"/>
            <a:ext cx="5041900" cy="212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Tipos de Regimes </a:t>
            </a:r>
            <a:br>
              <a:rPr lang="en-US"/>
            </a:br>
            <a:r>
              <a:rPr lang="en-US"/>
              <a:t>(Transitório vs Permanente)</a:t>
            </a:r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 do jogo de dados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Primeiros 10 lançamentos (replicação)</a:t>
            </a:r>
            <a:endParaRPr/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363188"/>
            <a:ext cx="9144000" cy="3447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Tipos de Regimes </a:t>
            </a:r>
            <a:br>
              <a:rPr lang="en-US"/>
            </a:br>
            <a:r>
              <a:rPr lang="en-US"/>
              <a:t>(Transitório vs Permanente)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 do jogo de dados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Gráfico dos lançamentos (10 iniciais)</a:t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070225"/>
            <a:ext cx="9144000" cy="3726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Tipos de Regimes </a:t>
            </a:r>
            <a:br>
              <a:rPr lang="en-US"/>
            </a:br>
            <a:r>
              <a:rPr lang="en-US"/>
              <a:t>(Transitório vs Permanente)</a:t>
            </a:r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 do jogo de dados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Regimes (para 150 lançamentos)</a:t>
            </a:r>
            <a:endParaRPr/>
          </a:p>
        </p:txBody>
      </p:sp>
      <p:pic>
        <p:nvPicPr>
          <p:cNvPr id="143" name="Google Shape;14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825097"/>
            <a:ext cx="9144000" cy="3985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Tipos de Simulação</a:t>
            </a:r>
            <a:br>
              <a:rPr lang="en-US"/>
            </a:br>
            <a:r>
              <a:rPr lang="en-US"/>
              <a:t>(Terminal e Não terminal)</a:t>
            </a:r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Quando não há dúvidas quanto aos instantes de tempo de início e fim da simulação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Simulação terminal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Quando não temos certeza sobre o momento em que a simulação deve ser terminada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Simulação não terminal ou simulação em regime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 sistema não é reconfigurado após uma parada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Medidas de Desempenho</a:t>
            </a:r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Devemos diferenciar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Parâmetros de “entrada”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Parâmetros de “saída” (desempenho)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Exemplo do Pub (o proprietário está preocupado com os clientes que têm de esperar por atendimento)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Algumas medidas de desempenho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probabilidade de que um cliente aguarde mais do que três minutos por atendimento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Medidas de Desempenho</a:t>
            </a:r>
            <a:endParaRPr/>
          </a:p>
        </p:txBody>
      </p:sp>
      <p:sp>
        <p:nvSpPr>
          <p:cNvPr id="161" name="Google Shape;161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1143000" lvl="2" indent="-24003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 número de cliente que desistem do atendimento devido ao excesso de clientes na fila de espera por bebidas</a:t>
            </a:r>
            <a:endParaRPr/>
          </a:p>
          <a:p>
            <a:pPr marL="1143000" lvl="2" indent="-240030" algn="l" rtl="0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Média de tempo de atendimento</a:t>
            </a:r>
            <a:endParaRPr/>
          </a:p>
          <a:p>
            <a:pPr marL="1600200" lvl="3" indent="-238125" algn="l" rtl="0">
              <a:spcBef>
                <a:spcPts val="37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/>
              <a:t>Mas não contempla a resposta do proprietário</a:t>
            </a:r>
            <a:endParaRPr/>
          </a:p>
          <a:p>
            <a:pPr marL="342900" lvl="0" indent="-3581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Calcular a média e a variância aumenta o conhecimento sobre o sistema</a:t>
            </a:r>
            <a:endParaRPr/>
          </a:p>
          <a:p>
            <a:pPr marL="742950" lvl="1" indent="-299085" algn="l" rtl="0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Não devemos olhar o mundo sempre pela média</a:t>
            </a:r>
            <a:endParaRPr/>
          </a:p>
          <a:p>
            <a:pPr marL="342900" lvl="0" indent="-358140" algn="l" rtl="0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Devemos escolher as medidas de desempenho do sistema a partir dos objetivos da simulação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Replicação vs Rodada</a:t>
            </a:r>
            <a:endParaRPr/>
          </a:p>
        </p:txBody>
      </p:sp>
      <p:sp>
        <p:nvSpPr>
          <p:cNvPr id="167" name="Google Shape;167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Rodada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Quando selecionamos ou iniciamos o comando que executa a simulação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Replicação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Repetição da simulação do modelo, com a mesma configuração, a mesma duração e com os mesmos parâmetros de entrada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Usando uma semente de geração de números aleatórios diferente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Leitura Complementar</a:t>
            </a:r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Bibliografia</a:t>
            </a:r>
            <a:endParaRPr/>
          </a:p>
          <a:p>
            <a:pPr marL="742950" lvl="1" indent="-28575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Capítulo 6 “Dimensionamento de corridas e análise dos resultados de um modelo de simulação” do livro texto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Macintosh PowerPoint</Application>
  <PresentationFormat>Apresentação na tela (4:3)</PresentationFormat>
  <Paragraphs>82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Modelagem e Simulação Dimensionamento e análise de resultados</vt:lpstr>
      <vt:lpstr>Aula Anterior</vt:lpstr>
      <vt:lpstr>Agenda</vt:lpstr>
      <vt:lpstr>Introdução</vt:lpstr>
      <vt:lpstr>Introdução</vt:lpstr>
      <vt:lpstr>Tipos de Regimes  (Transitório vs Permanente)</vt:lpstr>
      <vt:lpstr>Tipos de Regimes  (Transitório vs Permanente)</vt:lpstr>
      <vt:lpstr>Tipos de Regimes  (Transitório vs Permanente)</vt:lpstr>
      <vt:lpstr>Tipos de Regimes  (Transitório vs Permanente)</vt:lpstr>
      <vt:lpstr>Tipos de Regimes  (Transitório vs Permanente)</vt:lpstr>
      <vt:lpstr>Tipos de Simulação (Terminal e Não terminal)</vt:lpstr>
      <vt:lpstr>Medidas de Desempenho</vt:lpstr>
      <vt:lpstr>Medidas de Desempenho</vt:lpstr>
      <vt:lpstr>Replicação vs Rodada</vt:lpstr>
      <vt:lpstr>Leitura Complementar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Carlos Giovanni N. de Carvalho</cp:lastModifiedBy>
  <cp:revision>1</cp:revision>
  <dcterms:modified xsi:type="dcterms:W3CDTF">2024-05-28T16:56:47Z</dcterms:modified>
</cp:coreProperties>
</file>