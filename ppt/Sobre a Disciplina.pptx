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AAEB41-5716-4C63-AC19-6CC87E74E525}">
  <a:tblStyle styleId="{6FAAEB41-5716-4C63-AC19-6CC87E74E5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 snapToGrid="0">
      <p:cViewPr varScale="1">
        <p:scale>
          <a:sx n="106" d="100"/>
          <a:sy n="106" d="100"/>
        </p:scale>
        <p:origin x="8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961D9A55-2F4B-534B-A394-AB2CE71D0530}"/>
    <pc:docChg chg="modSld">
      <pc:chgData name="Carlos Giovanni N. de Carvalho" userId="2892a39a5793b0a7" providerId="LiveId" clId="{961D9A55-2F4B-534B-A394-AB2CE71D0530}" dt="2024-09-23T18:59:31.432" v="3" actId="20577"/>
      <pc:docMkLst>
        <pc:docMk/>
      </pc:docMkLst>
      <pc:sldChg chg="modSp mod">
        <pc:chgData name="Carlos Giovanni N. de Carvalho" userId="2892a39a5793b0a7" providerId="LiveId" clId="{961D9A55-2F4B-534B-A394-AB2CE71D0530}" dt="2024-09-11T15:52:01.435" v="0" actId="20577"/>
        <pc:sldMkLst>
          <pc:docMk/>
          <pc:sldMk cId="0" sldId="256"/>
        </pc:sldMkLst>
      </pc:sldChg>
      <pc:sldChg chg="modSp mod">
        <pc:chgData name="Carlos Giovanni N. de Carvalho" userId="2892a39a5793b0a7" providerId="LiveId" clId="{961D9A55-2F4B-534B-A394-AB2CE71D0530}" dt="2024-09-23T18:59:31.432" v="3" actId="20577"/>
        <pc:sldMkLst>
          <pc:docMk/>
          <pc:sldMk cId="0" sldId="258"/>
        </pc:sldMkLst>
      </pc:sldChg>
    </pc:docChg>
  </pc:docChgLst>
  <pc:docChgLst>
    <pc:chgData name="Carlos Giovanni N. de Carvalho" userId="2892a39a5793b0a7" providerId="LiveId" clId="{150159D5-4B6B-0B41-A1B3-A8218DE8861B}"/>
    <pc:docChg chg="custSel addSld modSld">
      <pc:chgData name="Carlos Giovanni N. de Carvalho" userId="2892a39a5793b0a7" providerId="LiveId" clId="{150159D5-4B6B-0B41-A1B3-A8218DE8861B}" dt="2025-02-24T00:16:41.111" v="85" actId="20577"/>
      <pc:docMkLst>
        <pc:docMk/>
      </pc:docMkLst>
      <pc:sldChg chg="modSp mod">
        <pc:chgData name="Carlos Giovanni N. de Carvalho" userId="2892a39a5793b0a7" providerId="LiveId" clId="{150159D5-4B6B-0B41-A1B3-A8218DE8861B}" dt="2025-02-24T00:16:41.111" v="85" actId="20577"/>
        <pc:sldMkLst>
          <pc:docMk/>
          <pc:sldMk cId="0" sldId="263"/>
        </pc:sldMkLst>
        <pc:spChg chg="mod">
          <ac:chgData name="Carlos Giovanni N. de Carvalho" userId="2892a39a5793b0a7" providerId="LiveId" clId="{150159D5-4B6B-0B41-A1B3-A8218DE8861B}" dt="2025-02-24T00:15:31.706" v="32" actId="20577"/>
          <ac:spMkLst>
            <pc:docMk/>
            <pc:sldMk cId="0" sldId="263"/>
            <ac:spMk id="128" creationId="{00000000-0000-0000-0000-000000000000}"/>
          </ac:spMkLst>
        </pc:spChg>
        <pc:spChg chg="mod">
          <ac:chgData name="Carlos Giovanni N. de Carvalho" userId="2892a39a5793b0a7" providerId="LiveId" clId="{150159D5-4B6B-0B41-A1B3-A8218DE8861B}" dt="2025-02-24T00:16:41.111" v="85" actId="20577"/>
          <ac:spMkLst>
            <pc:docMk/>
            <pc:sldMk cId="0" sldId="263"/>
            <ac:spMk id="129" creationId="{00000000-0000-0000-0000-000000000000}"/>
          </ac:spMkLst>
        </pc:spChg>
      </pc:sldChg>
      <pc:sldChg chg="modSp add mod">
        <pc:chgData name="Carlos Giovanni N. de Carvalho" userId="2892a39a5793b0a7" providerId="LiveId" clId="{150159D5-4B6B-0B41-A1B3-A8218DE8861B}" dt="2025-02-24T00:15:36.041" v="33" actId="20577"/>
        <pc:sldMkLst>
          <pc:docMk/>
          <pc:sldMk cId="3174037860" sldId="265"/>
        </pc:sldMkLst>
        <pc:spChg chg="mod">
          <ac:chgData name="Carlos Giovanni N. de Carvalho" userId="2892a39a5793b0a7" providerId="LiveId" clId="{150159D5-4B6B-0B41-A1B3-A8218DE8861B}" dt="2025-02-24T00:15:36.041" v="33" actId="20577"/>
          <ac:spMkLst>
            <pc:docMk/>
            <pc:sldMk cId="3174037860" sldId="265"/>
            <ac:spMk id="128" creationId="{44D42481-2CBD-7713-252E-0FB0F8FBC9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baba153e9_2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ababa153e9_2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aba153e9_2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ababa153e9_2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baba153e9_2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ababa153e9_2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baba153e9_2_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ababa153e9_2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baba153e9_2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ababa153e9_2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bb3bcb80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abb3bcb80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baba153e9_2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ababa153e9_2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1C6FD98-36ED-ECC1-A72F-3B9ED5F6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baba153e9_2_750:notes">
            <a:extLst>
              <a:ext uri="{FF2B5EF4-FFF2-40B4-BE49-F238E27FC236}">
                <a16:creationId xmlns:a16="http://schemas.microsoft.com/office/drawing/2014/main" id="{35BB2C33-8CF3-80E2-B1EB-A63EB4F08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ababa153e9_2_750:notes">
            <a:extLst>
              <a:ext uri="{FF2B5EF4-FFF2-40B4-BE49-F238E27FC236}">
                <a16:creationId xmlns:a16="http://schemas.microsoft.com/office/drawing/2014/main" id="{0D387C51-D9C7-17F9-D1FE-AB4B066FF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566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baba153e9_2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ababa153e9_2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Sobre </a:t>
            </a:r>
            <a:r>
              <a:rPr lang="pt-BR" dirty="0"/>
              <a:t>a Disciplina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Dr. Carlos Giovanni Nunes de Carvalho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cgnc@ctu.uespi.br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Plano de Disciplina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Identificação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Ementa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Objetivos da disciplina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Conteúdo Programático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Metodologia de avaliação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Bibliografia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Identificação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DISCIPLINA: </a:t>
            </a:r>
            <a:r>
              <a:rPr lang="pt-BR" b="1" dirty="0"/>
              <a:t>Modelagem e Simulação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PROFESSOR: </a:t>
            </a:r>
            <a:r>
              <a:rPr lang="pt-BR" b="1" dirty="0"/>
              <a:t>Carlos Giovanni Nunes de Carvalho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TITULAÇÃO: </a:t>
            </a:r>
            <a:r>
              <a:rPr lang="pt-BR" b="1" dirty="0"/>
              <a:t>Doutor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CARGA HORÁRIA: </a:t>
            </a:r>
            <a:r>
              <a:rPr lang="pt-BR" b="1"/>
              <a:t>60 horas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Ementa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Introdução à modelagem e simulação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Modelagem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Modelo conceitual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Implementação computacional do modelo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Verificação e validação de modelos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Dimensionamento e análise dos resultados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Projeto de Experimentos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Objetivos da Disciplina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Introduzir conceitos de modelagem para gerar embasamento teórico das simulações.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Praticar simulações por meio de estudo de caso.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Conteúdo Programático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/>
          </a:p>
        </p:txBody>
      </p:sp>
      <p:graphicFrame>
        <p:nvGraphicFramePr>
          <p:cNvPr id="116" name="Google Shape;116;p18"/>
          <p:cNvGraphicFramePr/>
          <p:nvPr/>
        </p:nvGraphicFramePr>
        <p:xfrm>
          <a:off x="767025" y="1810475"/>
          <a:ext cx="10515600" cy="4351175"/>
        </p:xfrm>
        <a:graphic>
          <a:graphicData uri="http://schemas.openxmlformats.org/drawingml/2006/table">
            <a:tbl>
              <a:tblPr>
                <a:noFill/>
                <a:tableStyleId>{6FAAEB41-5716-4C63-AC19-6CC87E74E525}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OBJETIVOS ESPECÍFICOS</a:t>
                      </a:r>
                      <a:endParaRPr sz="11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CONTEÚDO PROGRAMÁTICO</a:t>
                      </a:r>
                      <a:endParaRPr sz="11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C.H.</a:t>
                      </a:r>
                      <a:endParaRPr sz="1100" b="1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Introdução à modelagem e simulação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Conceitos, visão geral, modelos, aplicações e metodologia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6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Modelagem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Introdução à modelagem e coleta de dados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6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Tratamento de dados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6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Teste de aderência e ajuste de dados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6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Ferramenta para inferência de dados SIMUL-ED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5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Modelo conceitual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Abstração e diagrama de ciclos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6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Simulação manual e especificação de modelos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Implementação computacional do modelo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Introdução, linguagens e simulador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8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Conteúdo Programático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/>
          </a:p>
        </p:txBody>
      </p:sp>
      <p:graphicFrame>
        <p:nvGraphicFramePr>
          <p:cNvPr id="123" name="Google Shape;123;p19"/>
          <p:cNvGraphicFramePr/>
          <p:nvPr/>
        </p:nvGraphicFramePr>
        <p:xfrm>
          <a:off x="772500" y="1922075"/>
          <a:ext cx="10515600" cy="4254750"/>
        </p:xfrm>
        <a:graphic>
          <a:graphicData uri="http://schemas.openxmlformats.org/drawingml/2006/table">
            <a:tbl>
              <a:tblPr>
                <a:noFill/>
                <a:tableStyleId>{6FAAEB41-5716-4C63-AC19-6CC87E74E525}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OBJETIVOS ESPECÍFICOS</a:t>
                      </a:r>
                      <a:endParaRPr sz="11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CONTEÚDO PROGRAMÁTICO</a:t>
                      </a:r>
                      <a:endParaRPr sz="11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/>
                        <a:t>C.H.</a:t>
                      </a:r>
                      <a:endParaRPr sz="1100" b="1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5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Verificação e validação de modelos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Introdução e técnicas de verificação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Técnicas de validação e validade dos dados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Dimensionamento e análise dos resultados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Introdução, tipos de regimes e tipos de simulação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Medidas de desempenho, replicação e rodada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Precisão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Análise dos dados de saída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2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Comparar resultados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4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Discussão sobre Projeto de Experimentos e estudo de casos 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Estudo de caso no mercado financeiro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8</a:t>
                      </a: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Metodologia</a:t>
            </a:r>
            <a:endParaRPr dirty="0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Aulas expositivas e dialogadas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Estudos de caso e exercícios práticos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Uso de linguagem de programação Python para modelagem e simulação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Desenvolvimento de projetos individuais e em grupo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Avaliações teóricas </a:t>
            </a:r>
            <a:r>
              <a:rPr lang="pt-BR"/>
              <a:t>e práticas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84A58E0-202F-34A1-B427-8F7C388A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44D42481-2CBD-7713-252E-0FB0F8FBC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Avaliação</a:t>
            </a:r>
            <a:endParaRPr dirty="0"/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F334AAAA-D041-86F5-2D3F-DC001D7EF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Serão 3 notas provenientes de: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dirty="0" err="1"/>
              <a:t>Quizes</a:t>
            </a:r>
            <a:r>
              <a:rPr lang="pt-BR" dirty="0"/>
              <a:t> e trabalho de coleta de dados, outlier e inferência no </a:t>
            </a:r>
            <a:r>
              <a:rPr lang="pt-BR" dirty="0" err="1"/>
              <a:t>Simuled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dirty="0" err="1"/>
              <a:t>Quizes</a:t>
            </a:r>
            <a:r>
              <a:rPr lang="pt-BR" dirty="0"/>
              <a:t> e  trabalho de verificação e validação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dirty="0" err="1"/>
              <a:t>Quizes</a:t>
            </a:r>
            <a:r>
              <a:rPr lang="pt-BR" dirty="0"/>
              <a:t> e trabalho de análise dos resultados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403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Bibliografia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Básica: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CHWIF, Leonardo e MEDINA, Afonso C. (2015). Modelagem e Simulação de Eventos Discretos: Teoria e Aplicações. 4ª Edição. Ed. Campus/Elsevier.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Complementar: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Freitas Filho, Paulo J. (2008), Introdução à Modelagem e Simulação de Sistemas Com Aplicações Arena - 2ª 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389</Words>
  <Application>Microsoft Macintosh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do Office</vt:lpstr>
      <vt:lpstr>Sobre a Disciplina</vt:lpstr>
      <vt:lpstr>Agenda</vt:lpstr>
      <vt:lpstr>Identificação</vt:lpstr>
      <vt:lpstr>Ementa</vt:lpstr>
      <vt:lpstr>Objetivos da Disciplina</vt:lpstr>
      <vt:lpstr>Conteúdo Programático</vt:lpstr>
      <vt:lpstr>Conteúdo Programático</vt:lpstr>
      <vt:lpstr>Metodologia</vt:lpstr>
      <vt:lpstr>Avaliação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2025-02-24T00:16:44Z</dcterms:modified>
</cp:coreProperties>
</file>