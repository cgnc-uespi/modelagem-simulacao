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8"/>
  </p:normalViewPr>
  <p:slideViewPr>
    <p:cSldViewPr snapToGrid="0">
      <p:cViewPr varScale="1">
        <p:scale>
          <a:sx n="120" d="100"/>
          <a:sy n="120" d="100"/>
        </p:scale>
        <p:origin x="15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357F5154-73C0-CA4F-81D0-A0B920573155}"/>
    <pc:docChg chg="modSld">
      <pc:chgData name="Carlos Giovanni N. de Carvalho" userId="2892a39a5793b0a7" providerId="LiveId" clId="{357F5154-73C0-CA4F-81D0-A0B920573155}" dt="2024-09-11T15:52:14.052" v="0" actId="20577"/>
      <pc:docMkLst>
        <pc:docMk/>
      </pc:docMkLst>
      <pc:sldChg chg="modSp mod">
        <pc:chgData name="Carlos Giovanni N. de Carvalho" userId="2892a39a5793b0a7" providerId="LiveId" clId="{357F5154-73C0-CA4F-81D0-A0B920573155}" dt="2024-09-11T15:52:14.052" v="0" actId="20577"/>
        <pc:sldMkLst>
          <pc:docMk/>
          <pc:sldMk cId="0" sldId="256"/>
        </pc:sldMkLst>
        <pc:spChg chg="mod">
          <ac:chgData name="Carlos Giovanni N. de Carvalho" userId="2892a39a5793b0a7" providerId="LiveId" clId="{357F5154-73C0-CA4F-81D0-A0B920573155}" dt="2024-09-11T15:52:14.052" v="0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 dirty="0" err="1"/>
              <a:t>Modelagem</a:t>
            </a:r>
            <a:r>
              <a:rPr lang="en-US" sz="3959" dirty="0"/>
              <a:t> e </a:t>
            </a:r>
            <a:r>
              <a:rPr lang="en-US" sz="3959" dirty="0" err="1"/>
              <a:t>Simulação</a:t>
            </a:r>
            <a:br>
              <a:rPr lang="en-US" sz="3959"/>
            </a:br>
            <a:r>
              <a:rPr lang="en-US" sz="3959"/>
              <a:t>(</a:t>
            </a:r>
            <a:r>
              <a:rPr lang="en-US" sz="3959" dirty="0" err="1"/>
              <a:t>Introd</a:t>
            </a:r>
            <a:r>
              <a:rPr lang="en-US" sz="3959" dirty="0"/>
              <a:t>. à </a:t>
            </a:r>
            <a:r>
              <a:rPr lang="en-US" sz="3959" dirty="0" err="1"/>
              <a:t>Modelagem</a:t>
            </a:r>
            <a:r>
              <a:rPr lang="en-US" sz="3959" dirty="0"/>
              <a:t> e </a:t>
            </a:r>
            <a:r>
              <a:rPr lang="en-US" sz="3959" dirty="0" err="1"/>
              <a:t>Simulação</a:t>
            </a:r>
            <a:r>
              <a:rPr lang="en-US" sz="3959" dirty="0"/>
              <a:t>)</a:t>
            </a:r>
            <a:endParaRPr sz="3959"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Introdução à modelagem e simulação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Conceitos e visão geral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Modelos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Aplicações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Metodologia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Conceitos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Classificação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Simulação computacional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Necessita de um computador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Simulação não computacional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Não necessita de computador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Exemplo: protótipo em escala reduzida de uma aeronave em um túnel de vento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Simulação de eventos discretos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Abordagem que usa computador digital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Conceitos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 que a simulação não é/pode: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Não pode prever o futuro, mas pode prever, com um certo grau de confiança, o comportamento de um sistema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Não é um modelo matemático para ser reduzido a uma simples equação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Não é uma ferramenta de otimização para encontrar resultados ótimos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Não pode substituir o ser humano no processo de tomada de decisão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Conceitos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O que a simulação não é/pode: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Não é uma técnica de último recurso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Não é uma panaceia, pois aplica-se a uma classe de problemas específicos</a:t>
            </a:r>
            <a:endParaRPr sz="2590"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Simulação</a:t>
            </a:r>
            <a:endParaRPr sz="296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Simulamos algum sistema</a:t>
            </a:r>
            <a:endParaRPr sz="2590"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Sistema</a:t>
            </a:r>
            <a:endParaRPr sz="296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Agrupamento de partes que operam juntas para um objetivo comum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Interação causa-efeito entre as partes deve acontecer</a:t>
            </a:r>
            <a:endParaRPr sz="259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Visão Geral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Partes do sistema dependem do que vai ser analisado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 rato faz parte do sistema abaixo?</a:t>
            </a:r>
            <a:endParaRPr/>
          </a:p>
        </p:txBody>
      </p:sp>
      <p:pic>
        <p:nvPicPr>
          <p:cNvPr id="116" name="Google Shape;116;p18" descr="fig1.1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2900" y="3197225"/>
            <a:ext cx="5918200" cy="3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Visão Geral</a:t>
            </a:r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Sistemas podem ser hipotéticos ou imaginários</a:t>
            </a:r>
            <a:endParaRPr sz="296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Usualmente simulamos sistemas reais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Por não serem reais, são mais difíceis de validar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É viável e comum a construção de modelos de simulação</a:t>
            </a:r>
            <a:endParaRPr sz="2590"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Modelos de simulação</a:t>
            </a:r>
            <a:endParaRPr sz="296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Representação simplificada das diversas interações entre as partes de um sistema</a:t>
            </a:r>
            <a:endParaRPr sz="259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Abstração do real que se aproxima do verdadeiro comportamento</a:t>
            </a:r>
            <a:endParaRPr sz="259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Visão Geral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a partir do comportamento de um sistema real</a:t>
            </a:r>
            <a:endParaRPr/>
          </a:p>
        </p:txBody>
      </p:sp>
      <p:pic>
        <p:nvPicPr>
          <p:cNvPr id="129" name="Google Shape;129;p20" descr="fig1.2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6" y="2301874"/>
            <a:ext cx="4660634" cy="4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Modelos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simbólico ou icônico ou diagramático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Composto de símbolos gráficos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Exemplos: foto e fluxograma de processos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Desvantagens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Estático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Falta de elementos quantitativos (por exemplo – medidas de desempenho)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Dificuldade de representar muitos detalhes do sistema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Usado para documentação de projetos e ferramenta de comunicação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Modelos</a:t>
            </a:r>
            <a:endParaRPr/>
          </a:p>
        </p:txBody>
      </p:sp>
      <p:pic>
        <p:nvPicPr>
          <p:cNvPr id="141" name="Google Shape;141;p22" descr="fig.tiff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65378" r="-65378"/>
          <a:stretch/>
        </p:blipFill>
        <p:spPr>
          <a:xfrm>
            <a:off x="457200" y="1706096"/>
            <a:ext cx="8229600" cy="493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 descr="fig1.3a.ti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1353374" y="3711865"/>
            <a:ext cx="4841883" cy="830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Modelos</a:t>
            </a:r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 matemático ou analítico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Conjunto de fórmulas matemáticas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Programação linear ou teoria das filas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Desvantagens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Na maioria dos casos estáticos (exemplo de não estático: teoria das filas)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Não apresentam soluções analíticas para sistemas complexos, somente hipóteses simplificadoras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Vantagens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Solução rápida e exata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Modelos</a:t>
            </a: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Representação de parâmetro (número médio de pessoas na fila) por modelo matemático</a:t>
            </a:r>
            <a:endParaRPr sz="296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 i="1"/>
              <a:t>L</a:t>
            </a:r>
            <a:r>
              <a:rPr lang="en-US" sz="2590" i="1" baseline="-25000"/>
              <a:t>f</a:t>
            </a:r>
            <a:r>
              <a:rPr lang="en-US" sz="2590"/>
              <a:t> é o número médio</a:t>
            </a:r>
            <a:br>
              <a:rPr lang="en-US" sz="2590"/>
            </a:br>
            <a:r>
              <a:rPr lang="en-US" sz="2590"/>
              <a:t>de pessoas aguardan-</a:t>
            </a:r>
            <a:br>
              <a:rPr lang="en-US" sz="2590"/>
            </a:br>
            <a:r>
              <a:rPr lang="en-US" sz="2590"/>
              <a:t>do na fila única (FIFO)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 i="1"/>
              <a:t>p</a:t>
            </a:r>
            <a:r>
              <a:rPr lang="en-US" sz="2220"/>
              <a:t> é a razão entre a </a:t>
            </a:r>
            <a:br>
              <a:rPr lang="en-US" sz="2220"/>
            </a:br>
            <a:r>
              <a:rPr lang="en-US" sz="2220"/>
              <a:t>taxa média de pes-</a:t>
            </a:r>
            <a:br>
              <a:rPr lang="en-US" sz="2220"/>
            </a:br>
            <a:r>
              <a:rPr lang="en-US" sz="2220"/>
              <a:t>soas que chegam ao</a:t>
            </a:r>
            <a:br>
              <a:rPr lang="en-US" sz="2220"/>
            </a:br>
            <a:r>
              <a:rPr lang="en-US" sz="2220"/>
              <a:t>sistema e taxa média</a:t>
            </a:r>
            <a:br>
              <a:rPr lang="en-US" sz="2220"/>
            </a:br>
            <a:r>
              <a:rPr lang="en-US" sz="2220"/>
              <a:t>de pessoas atendidas</a:t>
            </a:r>
            <a:br>
              <a:rPr lang="en-US" sz="2220"/>
            </a:br>
            <a:r>
              <a:rPr lang="en-US" sz="2220"/>
              <a:t>no servidor (distribui-</a:t>
            </a:r>
            <a:br>
              <a:rPr lang="en-US" sz="2220"/>
            </a:br>
            <a:r>
              <a:rPr lang="en-US" sz="2220"/>
              <a:t>ções exponencial)</a:t>
            </a:r>
            <a:endParaRPr/>
          </a:p>
        </p:txBody>
      </p:sp>
      <p:pic>
        <p:nvPicPr>
          <p:cNvPr id="155" name="Google Shape;155;p24" descr="fig1.4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1176" y="2751758"/>
            <a:ext cx="4508499" cy="3979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 descr="eq1.1.ti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9624" y="5857088"/>
            <a:ext cx="1063625" cy="905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Modelos</a:t>
            </a:r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Modelos de simulação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Sistemas reais normalmente apresentam maior complexidade devido à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Natureza dinâmica (muda o estado ao longo do tempo)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Aleatória (regida por variáveis aleatórias)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Vantagem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Capaz de analisar diversos aspectos do sistema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Desvantagens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Construir modelos de simulação pode ser difícil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Leva mais tempo para obter os resultados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Modelos</a:t>
            </a:r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Modelos de simulação (continuação)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Categorias básicas</a:t>
            </a:r>
            <a:endParaRPr sz="259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Simulação de Monte Carlo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Geradores de números aleatórios (sistema físicos ou matemáticos)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Simulação Contínua</a:t>
            </a:r>
            <a:endParaRPr sz="2220"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Modelar sistemas cujo estado varia continuamente (ex. resfriamento de uma xícara de chá)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Utiliza-se de equações diferenciais para cálculo das mudanças das variáveis de estado ao longo do tempo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Simulação de Eventos Discretos</a:t>
            </a:r>
            <a:endParaRPr sz="2220"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Modelar sistemas que mudam o seu estado em momentos discretos no tempo, a partir da ocorrência de eventos</a:t>
            </a:r>
            <a:endParaRPr sz="1850"/>
          </a:p>
          <a:p>
            <a:pPr marL="1600200" lvl="3" indent="-111125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endParaRPr sz="18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Modelos</a:t>
            </a:r>
            <a:endParaRPr/>
          </a:p>
        </p:txBody>
      </p:sp>
      <p:sp>
        <p:nvSpPr>
          <p:cNvPr id="174" name="Google Shape;174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Modelos de simulação (continuação)</a:t>
            </a:r>
            <a:endParaRPr/>
          </a:p>
        </p:txBody>
      </p:sp>
      <p:pic>
        <p:nvPicPr>
          <p:cNvPr id="175" name="Google Shape;175;p27" descr="fig1.5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5874" y="2271947"/>
            <a:ext cx="4156075" cy="4411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Aplicações</a:t>
            </a: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Amplamente utilizado em várias áreas</a:t>
            </a:r>
            <a:endParaRPr sz="2960"/>
          </a:p>
          <a:p>
            <a:pPr marL="342900" lvl="0" indent="-342900" algn="l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Podemos dividir em dois grandes grupos</a:t>
            </a:r>
            <a:endParaRPr sz="296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Manufatura</a:t>
            </a:r>
            <a:endParaRPr sz="259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Exemplos</a:t>
            </a:r>
            <a:endParaRPr sz="2220"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Sistemas de movimentação e armazenagem de materiais, linhas de montagem, células automatizadas, problemas de programação da produção, análise de estoques, etc</a:t>
            </a:r>
            <a:endParaRPr sz="1850"/>
          </a:p>
          <a:p>
            <a:pPr marL="742950" lvl="1" indent="-285750" algn="l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Serviços</a:t>
            </a:r>
            <a:endParaRPr sz="2590"/>
          </a:p>
          <a:p>
            <a:pPr marL="1143000" lvl="2" indent="-22860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Exemplos</a:t>
            </a:r>
            <a:endParaRPr sz="2220"/>
          </a:p>
          <a:p>
            <a:pPr marL="1600200" lvl="3" indent="-228600" algn="l" rtl="0">
              <a:lnSpc>
                <a:spcPct val="9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Char char="–"/>
            </a:pPr>
            <a:r>
              <a:rPr lang="en-US" sz="1850"/>
              <a:t>Aeroportos e portos, bancos, cadeias logísticas, call centers, escritórios, hospitais, parques de diversões, restaurantes e cadeias de fast-food, supermercados, etc</a:t>
            </a:r>
            <a:endParaRPr sz="18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Metodologia</a:t>
            </a:r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Metodologia de simulação ou ciclo de vida de um modelo de simulação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Etapas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Concepção ou formulação do modelo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Implementação do modelo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Análise dos resultados do modelo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Metodologia</a:t>
            </a:r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Metodologia de simulação ou ciclo de vida de um modelo de simulação</a:t>
            </a:r>
            <a:endParaRPr sz="296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Concepção ou formulação do modelo</a:t>
            </a:r>
            <a:endParaRPr sz="2590"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O analista de simulação deve entender claramente o sistema a ser simulado, por meio de discussão com especialistas</a:t>
            </a:r>
            <a:endParaRPr sz="2220"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Decidir o escopo do modelo, suas hipóteses e o seu nível de detalhamento</a:t>
            </a:r>
            <a:endParaRPr sz="2220"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Dados de entrada são coletados</a:t>
            </a:r>
            <a:endParaRPr sz="2220"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O modelo abstrato deve ser mapeado (modelo conceitual) por técnicas de representação de modelos de simulação</a:t>
            </a:r>
            <a:endParaRPr sz="222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Metodologia</a:t>
            </a:r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Metodologia de simulação ou ciclo de vida de um modelo de simulação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Implementação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Converter o modelo conceitual em modelo computacional (linguagem de simulação ou simulador)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Leva em torno de 20% a 30% do tempo total de estudo de simulação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 modelo computacional deve ser comparado com o modelo conceitual para avaliação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Alguns resultados devem ser gerados para validação e verificação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Metodologia</a:t>
            </a:r>
            <a:endParaRPr/>
          </a:p>
        </p:txBody>
      </p:sp>
      <p:sp>
        <p:nvSpPr>
          <p:cNvPr id="205" name="Google Shape;20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960"/>
              <a:t>Metodologia de simulação ou ciclo de vida de um modelo de simulação</a:t>
            </a:r>
            <a:endParaRPr sz="2960"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Char char="–"/>
            </a:pPr>
            <a:r>
              <a:rPr lang="en-US" sz="2590"/>
              <a:t>Análise</a:t>
            </a:r>
            <a:endParaRPr sz="2590"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Realização dos experimentos, dando origem ao modelo experimental ou modelo operacional</a:t>
            </a:r>
            <a:endParaRPr sz="2220"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São efetuadas várias “rodadas” do modelo e os resultados são analisados e documentados</a:t>
            </a:r>
            <a:endParaRPr sz="2220"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Conclusões e recomendações sobre o sistema podem ser geradas</a:t>
            </a:r>
            <a:endParaRPr sz="2220"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Char char="•"/>
            </a:pPr>
            <a:r>
              <a:rPr lang="en-US" sz="2220"/>
              <a:t>O modelo pode ser modificado e o ciclo é reiniciado, caso necessário (resultado da simulação não for satisfatório)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Metodologia</a:t>
            </a:r>
            <a:endParaRPr/>
          </a:p>
        </p:txBody>
      </p:sp>
      <p:sp>
        <p:nvSpPr>
          <p:cNvPr id="211" name="Google Shape;211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Metodologia de simulação ou ciclo de vida de um modelo de simulação (continuação)</a:t>
            </a:r>
            <a:endParaRPr/>
          </a:p>
        </p:txBody>
      </p:sp>
      <p:pic>
        <p:nvPicPr>
          <p:cNvPr id="212" name="Google Shape;212;p33" descr="fig1.6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3250" y="2742079"/>
            <a:ext cx="5257800" cy="4020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218" name="Google Shape;218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1 “O que é simulação?” do livro texto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</Words>
  <Application>Microsoft Macintosh PowerPoint</Application>
  <PresentationFormat>Apresentação na tela (4:3)</PresentationFormat>
  <Paragraphs>133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Modelagem e Simulação (Introd. à Modelagem e Simulação)</vt:lpstr>
      <vt:lpstr>Agenda</vt:lpstr>
      <vt:lpstr>Conceitos</vt:lpstr>
      <vt:lpstr>Conceitos</vt:lpstr>
      <vt:lpstr>Conceitos</vt:lpstr>
      <vt:lpstr>Visão Geral</vt:lpstr>
      <vt:lpstr>Visão Geral</vt:lpstr>
      <vt:lpstr>Visão Geral</vt:lpstr>
      <vt:lpstr>Modelos</vt:lpstr>
      <vt:lpstr>Modelos</vt:lpstr>
      <vt:lpstr>Modelos</vt:lpstr>
      <vt:lpstr>Modelos</vt:lpstr>
      <vt:lpstr>Modelos</vt:lpstr>
      <vt:lpstr>Modelos</vt:lpstr>
      <vt:lpstr>Modelos</vt:lpstr>
      <vt:lpstr>Aplicações</vt:lpstr>
      <vt:lpstr>Metodologia</vt:lpstr>
      <vt:lpstr>Metodologia</vt:lpstr>
      <vt:lpstr>Metodologia</vt:lpstr>
      <vt:lpstr>Metodologia</vt:lpstr>
      <vt:lpstr>Metodologia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2024-09-11T15:52:15Z</dcterms:modified>
</cp:coreProperties>
</file>