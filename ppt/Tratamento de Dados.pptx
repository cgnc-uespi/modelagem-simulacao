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iovanni N. de Carvalho" userId="2892a39a5793b0a7" providerId="LiveId" clId="{51652106-51B2-FC41-B93B-38BD178F18AB}"/>
    <pc:docChg chg="modSld">
      <pc:chgData name="Carlos Giovanni N. de Carvalho" userId="2892a39a5793b0a7" providerId="LiveId" clId="{51652106-51B2-FC41-B93B-38BD178F18AB}" dt="2024-09-11T15:46:16.841" v="0" actId="20577"/>
      <pc:docMkLst>
        <pc:docMk/>
      </pc:docMkLst>
      <pc:sldChg chg="modSp mod">
        <pc:chgData name="Carlos Giovanni N. de Carvalho" userId="2892a39a5793b0a7" providerId="LiveId" clId="{51652106-51B2-FC41-B93B-38BD178F18AB}" dt="2024-09-11T15:46:16.841" v="0" actId="20577"/>
        <pc:sldMkLst>
          <pc:docMk/>
          <pc:sldMk cId="0" sldId="256"/>
        </pc:sldMkLst>
        <pc:spChg chg="mod">
          <ac:chgData name="Carlos Giovanni N. de Carvalho" userId="2892a39a5793b0a7" providerId="LiveId" clId="{51652106-51B2-FC41-B93B-38BD178F18AB}" dt="2024-09-11T15:46:16.841" v="0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 err="1"/>
              <a:t>Modelagem</a:t>
            </a:r>
            <a:r>
              <a:rPr lang="en-US" sz="3959" dirty="0"/>
              <a:t> e </a:t>
            </a:r>
            <a:r>
              <a:rPr lang="en-US" sz="3959" dirty="0" err="1"/>
              <a:t>Simulação</a:t>
            </a:r>
            <a:br>
              <a:rPr lang="en-US" sz="3959"/>
            </a:br>
            <a:r>
              <a:rPr lang="en-US" sz="3959"/>
              <a:t>(</a:t>
            </a:r>
            <a:r>
              <a:rPr lang="en-US" sz="3959" dirty="0" err="1"/>
              <a:t>Modelagem</a:t>
            </a:r>
            <a:r>
              <a:rPr lang="en-US" sz="3959" dirty="0"/>
              <a:t>: </a:t>
            </a:r>
            <a:r>
              <a:rPr lang="en-US" sz="3959" dirty="0" err="1"/>
              <a:t>tratamento</a:t>
            </a:r>
            <a:r>
              <a:rPr lang="en-US" sz="3959" dirty="0"/>
              <a:t> de dados)</a:t>
            </a:r>
            <a:endParaRPr sz="3959"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Aula Anterior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Modelagem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Introdução à modelagem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Coleta de dados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Modelagem (continuação)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Tratamento de dados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Outliers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Análise de correlação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Inferência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Tratamento de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Devemos explorar o nosso conjunto de dados de modo a compreendermos melhor o fenômeno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Estatística descritiva da variável aleatória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Medidas de posição (média, mediana, moda, etc) e dispersão (variância, amplitude, coeficiente de variação, etc)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Ferramentas no mercado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Pacotes (Minitab, SPSS, Best Fit, entre outros.)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Módulos (Stat::Fit - ProModel, SIMUL8, Input Analyzer – Arena, entre outros)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Tratamento de Dados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Exemplo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Intervalo de</a:t>
            </a:r>
            <a:br>
              <a:rPr lang="en-US"/>
            </a:br>
            <a:r>
              <a:rPr lang="en-US"/>
              <a:t>chegadas de</a:t>
            </a:r>
            <a:br>
              <a:rPr lang="en-US"/>
            </a:br>
            <a:r>
              <a:rPr lang="en-US"/>
              <a:t>clientes ao</a:t>
            </a:r>
            <a:br>
              <a:rPr lang="en-US"/>
            </a:br>
            <a:r>
              <a:rPr lang="en-US"/>
              <a:t>supermercado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Observar valores</a:t>
            </a:r>
            <a:br>
              <a:rPr lang="en-US"/>
            </a:br>
            <a:r>
              <a:rPr lang="en-US"/>
              <a:t>discrepantes,</a:t>
            </a:r>
            <a:br>
              <a:rPr lang="en-US"/>
            </a:br>
            <a:r>
              <a:rPr lang="en-US"/>
              <a:t>tais como mín,</a:t>
            </a:r>
            <a:br>
              <a:rPr lang="en-US"/>
            </a:br>
            <a:r>
              <a:rPr lang="en-US"/>
              <a:t>máx, entre</a:t>
            </a:r>
            <a:br>
              <a:rPr lang="en-US"/>
            </a:br>
            <a:r>
              <a:rPr lang="en-US"/>
              <a:t>outros</a:t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4499" y="2219657"/>
            <a:ext cx="5179848" cy="442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Outliers</a:t>
            </a: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Toda coleta está sujeita a valores não usuais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Normalmente são provenientes de: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Erro na coleta de dados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Mais comum e geralmente surge quando o levantamento é feito manualmente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Eventos raros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Não é comum, tais como: temperatura negativa no verão, tempo mais curto que o melhor desempenho, entre outros.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Outliers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de impacto do outiler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271" y="2630927"/>
            <a:ext cx="6019573" cy="3495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Outliers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Como identificar outlier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Técnica mais comum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Construir um intervalo de valores a partir dos quartis da amostra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Calcular a Amplitude (</a:t>
            </a:r>
            <a:r>
              <a:rPr lang="en-US" i="1"/>
              <a:t>A</a:t>
            </a:r>
            <a:r>
              <a:rPr lang="en-US"/>
              <a:t>) interquartil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Q</a:t>
            </a:r>
            <a:r>
              <a:rPr lang="en-US" baseline="-25000"/>
              <a:t>1</a:t>
            </a:r>
            <a:r>
              <a:rPr lang="en-US"/>
              <a:t> e Q</a:t>
            </a:r>
            <a:r>
              <a:rPr lang="en-US" baseline="-25000"/>
              <a:t>3</a:t>
            </a:r>
            <a:r>
              <a:rPr lang="en-US"/>
              <a:t> são respectivamente, os valores do primeiro e terceiro quartis (ordenar os valores do menor para o maior e separar em quatro partes, cada uma contendo um quartil)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Considera-se um valor discrepante ou outlier moderado, qualquer valor abaixo de Q</a:t>
            </a:r>
            <a:r>
              <a:rPr lang="en-US" baseline="-25000"/>
              <a:t>1</a:t>
            </a:r>
            <a:r>
              <a:rPr lang="en-US"/>
              <a:t> – 1,5*A ou acima de Q</a:t>
            </a:r>
            <a:r>
              <a:rPr lang="en-US" baseline="-25000"/>
              <a:t>3</a:t>
            </a:r>
            <a:r>
              <a:rPr lang="en-US"/>
              <a:t> + 1,5*A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Box-plot é a forma gráfica de representar o outlier</a:t>
            </a: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0122" y="3432616"/>
            <a:ext cx="1600200" cy="5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Outliers</a:t>
            </a: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Como identificar outlier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Exemplos em box-plot</a:t>
            </a:r>
            <a:endParaRPr/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5853" y="2595933"/>
            <a:ext cx="5432882" cy="4182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Outliers</a:t>
            </a:r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Como identificar outlier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Exemplo do supermercado</a:t>
            </a:r>
            <a:endParaRPr sz="2220"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Outliers moderados</a:t>
            </a:r>
            <a:endParaRPr sz="1850"/>
          </a:p>
          <a:p>
            <a:pPr marL="2057400" lvl="4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/>
              <a:t>Primeiro quartil: Q</a:t>
            </a:r>
            <a:r>
              <a:rPr lang="en-US" sz="1850" baseline="-25000"/>
              <a:t>1</a:t>
            </a:r>
            <a:r>
              <a:rPr lang="en-US" sz="1850"/>
              <a:t> = 2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/>
              <a:t>Terceiro quartil: Q</a:t>
            </a:r>
            <a:r>
              <a:rPr lang="en-US" sz="1850" baseline="-25000"/>
              <a:t>3</a:t>
            </a:r>
            <a:r>
              <a:rPr lang="en-US" sz="1850"/>
              <a:t> = 9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/>
              <a:t>Amplitude interquartil: A = Q</a:t>
            </a:r>
            <a:r>
              <a:rPr lang="en-US" sz="1850" baseline="-25000"/>
              <a:t>3</a:t>
            </a:r>
            <a:r>
              <a:rPr lang="en-US" sz="1850"/>
              <a:t> – Q</a:t>
            </a:r>
            <a:r>
              <a:rPr lang="en-US" sz="1850" baseline="-25000"/>
              <a:t>1</a:t>
            </a:r>
            <a:r>
              <a:rPr lang="en-US" sz="1850"/>
              <a:t> = 9-2 = 7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/>
              <a:t>Q</a:t>
            </a:r>
            <a:r>
              <a:rPr lang="en-US" sz="1850" baseline="-25000"/>
              <a:t>1</a:t>
            </a:r>
            <a:r>
              <a:rPr lang="en-US" sz="1850"/>
              <a:t> – 1,5*A = 2 – 10,5 = -8,5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/>
              <a:t>Q</a:t>
            </a:r>
            <a:r>
              <a:rPr lang="en-US" sz="1850" baseline="-25000"/>
              <a:t>3</a:t>
            </a:r>
            <a:r>
              <a:rPr lang="en-US" sz="1850"/>
              <a:t> +1,5*A = 9 + 10,5 = 19,5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/>
              <a:t>Existem 11 valores</a:t>
            </a:r>
            <a:endParaRPr sz="1850"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Outliers extremo</a:t>
            </a:r>
            <a:endParaRPr sz="1850"/>
          </a:p>
          <a:p>
            <a:pPr marL="2057400" lvl="4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/>
              <a:t>Q</a:t>
            </a:r>
            <a:r>
              <a:rPr lang="en-US" sz="1850" baseline="-25000"/>
              <a:t>1</a:t>
            </a:r>
            <a:r>
              <a:rPr lang="en-US" sz="1850"/>
              <a:t> – 3*A = 2 – 21 = -19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/>
              <a:t>Q</a:t>
            </a:r>
            <a:r>
              <a:rPr lang="en-US" sz="1850" baseline="-25000"/>
              <a:t>3</a:t>
            </a:r>
            <a:r>
              <a:rPr lang="en-US" sz="1850"/>
              <a:t> + 3*A = 9 + 21 = 30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/>
              <a:t>Existem 2 valores (“43” e “728”)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Outliers</a:t>
            </a: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Como identificar outlier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Retirar da amostra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Exige bom senso, honestidade e principalmente, o objetivo final do estudo de simulação são aspectos que devem ser levados em consideração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Devemos ter cuidado especial com a característica do fenômeno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Para a distribuição exponencial, o valor “43” é importante e não deve ser retirado, mas o valor “728” atrapalha o resultado final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Sempre que pairar uma dúvida sobre o que foi coletado é importante aumentar a amostra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Outliers</a:t>
            </a: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Como identificar outlier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Exemplo do supermercado</a:t>
            </a:r>
            <a:endParaRPr sz="259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Aspectos</a:t>
            </a:r>
            <a:endParaRPr sz="2220"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Coeficiente de </a:t>
            </a:r>
            <a:br>
              <a:rPr lang="en-US" sz="1850"/>
            </a:br>
            <a:r>
              <a:rPr lang="en-US" sz="1850"/>
              <a:t>variação próximo de</a:t>
            </a:r>
            <a:br>
              <a:rPr lang="en-US" sz="1850"/>
            </a:br>
            <a:r>
              <a:rPr lang="en-US" sz="1850"/>
              <a:t>97%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Coeficiente de as-</a:t>
            </a:r>
            <a:br>
              <a:rPr lang="en-US" sz="1850"/>
            </a:br>
            <a:r>
              <a:rPr lang="en-US" sz="1850"/>
              <a:t>simetria distante de</a:t>
            </a:r>
            <a:br>
              <a:rPr lang="en-US" sz="1850"/>
            </a:br>
            <a:r>
              <a:rPr lang="en-US" sz="1850"/>
              <a:t>zero afasta a forma</a:t>
            </a:r>
            <a:br>
              <a:rPr lang="en-US" sz="1850"/>
            </a:br>
            <a:r>
              <a:rPr lang="en-US" sz="1850"/>
              <a:t>de “sino”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Coeficiente de as-</a:t>
            </a:r>
            <a:br>
              <a:rPr lang="en-US" sz="1850"/>
            </a:br>
            <a:r>
              <a:rPr lang="en-US" sz="1850"/>
              <a:t>simetria positivo</a:t>
            </a:r>
            <a:br>
              <a:rPr lang="en-US" sz="1850"/>
            </a:br>
            <a:r>
              <a:rPr lang="en-US" sz="1850"/>
              <a:t>indica “cauda” para</a:t>
            </a:r>
            <a:br>
              <a:rPr lang="en-US" sz="1850"/>
            </a:br>
            <a:r>
              <a:rPr lang="en-US" sz="1850"/>
              <a:t>direita</a:t>
            </a:r>
            <a:endParaRPr sz="1850"/>
          </a:p>
        </p:txBody>
      </p:sp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79522" y="2633326"/>
            <a:ext cx="4792442" cy="4189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Análise de Correlação</a:t>
            </a:r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Estudo para verificar se a amostra representa uma sequência de valores independentes e identicamente distribuídos (i.i.d)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Se não existe correlação entre as observações que compõem a amostra</a:t>
            </a:r>
            <a:endParaRPr sz="2590"/>
          </a:p>
          <a:p>
            <a:pPr marL="742950" lvl="1" indent="-285750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Geralmente não é válida em situações em que existe uma “curva de aprendizagem” regendo o processo ou quando existe correlação entre mais de um parâmetro de entrada do modelo</a:t>
            </a:r>
            <a:endParaRPr sz="2590"/>
          </a:p>
          <a:p>
            <a:pPr marL="1143000" lvl="2" indent="-228600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Exemplo: operador recém-contratado (ou treinamento) ou queda de produtividade ao longo do turno de trabalho (séries temporais ou multivariada)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Análise de Correlação</a:t>
            </a:r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Testes para verificar a hipótese de independência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 mais simples é o diagrama de dispersão com as observações na ordem em que foram coletadas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Observações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Pares a serem plotados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Os pontos tendem a serem dispersos ao longo do gráfico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Caso haja inclinação para direita ou esquerda, está ocorrendo correlação</a:t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4500" y="3718386"/>
            <a:ext cx="25527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3355" y="4149236"/>
            <a:ext cx="3187690" cy="310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Análise de Correlação</a:t>
            </a:r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Testes para verificar a hipótese de</a:t>
            </a:r>
            <a:br>
              <a:rPr lang="en-US"/>
            </a:br>
            <a:r>
              <a:rPr lang="en-US"/>
              <a:t>independência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Exemplo de</a:t>
            </a:r>
            <a:br>
              <a:rPr lang="en-US"/>
            </a:br>
            <a:r>
              <a:rPr lang="en-US"/>
              <a:t>diagrama de</a:t>
            </a:r>
            <a:br>
              <a:rPr lang="en-US"/>
            </a:br>
            <a:r>
              <a:rPr lang="en-US"/>
              <a:t>dispersão</a:t>
            </a:r>
            <a:br>
              <a:rPr lang="en-US"/>
            </a:br>
            <a:r>
              <a:rPr lang="en-US"/>
              <a:t>(sem </a:t>
            </a:r>
            <a:br>
              <a:rPr lang="en-US"/>
            </a:br>
            <a:r>
              <a:rPr lang="en-US"/>
              <a:t>correlação)</a:t>
            </a:r>
            <a:endParaRPr/>
          </a:p>
        </p:txBody>
      </p:sp>
      <p:pic>
        <p:nvPicPr>
          <p:cNvPr id="177" name="Google Shape;17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2781" y="2680716"/>
            <a:ext cx="5496139" cy="4096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Análise de Correlação</a:t>
            </a:r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Testes para verificar a hipótese de</a:t>
            </a:r>
            <a:br>
              <a:rPr lang="en-US"/>
            </a:br>
            <a:r>
              <a:rPr lang="en-US"/>
              <a:t>independência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Exemplo de</a:t>
            </a:r>
            <a:br>
              <a:rPr lang="en-US"/>
            </a:br>
            <a:r>
              <a:rPr lang="en-US"/>
              <a:t>diagrama de</a:t>
            </a:r>
            <a:br>
              <a:rPr lang="en-US"/>
            </a:br>
            <a:r>
              <a:rPr lang="en-US"/>
              <a:t>dispersão </a:t>
            </a:r>
            <a:br>
              <a:rPr lang="en-US"/>
            </a:br>
            <a:r>
              <a:rPr lang="en-US"/>
              <a:t>(correlação </a:t>
            </a:r>
            <a:br>
              <a:rPr lang="en-US"/>
            </a:br>
            <a:r>
              <a:rPr lang="en-US"/>
              <a:t>positiva)</a:t>
            </a:r>
            <a:endParaRPr/>
          </a:p>
        </p:txBody>
      </p:sp>
      <p:pic>
        <p:nvPicPr>
          <p:cNvPr id="184" name="Google Shape;18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6653" y="2719826"/>
            <a:ext cx="5537200" cy="40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Inferência</a:t>
            </a:r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Verificar se existe uma “possível” distribuição de probabilidade que representa o fenômeno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 primeiro passo para verificar a consistência dos dados é o histograma da amostra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Divisão de classes adequada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Regra de Sturges</a:t>
            </a:r>
            <a:endParaRPr/>
          </a:p>
        </p:txBody>
      </p:sp>
      <p:pic>
        <p:nvPicPr>
          <p:cNvPr id="191" name="Google Shape;19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1956" y="4888558"/>
            <a:ext cx="3187700" cy="16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Inferência</a:t>
            </a:r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0" lvl="2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Regra de Sturges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Exemplo do Supermercado</a:t>
            </a:r>
            <a:endParaRPr/>
          </a:p>
          <a:p>
            <a:pPr marL="1600200" lvl="3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20574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Tamanho de cada classe (h)</a:t>
            </a:r>
            <a:endParaRPr/>
          </a:p>
          <a:p>
            <a:pPr marL="205740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205740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20574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Com nove classes, temos o seguinte:</a:t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7667" y="2427025"/>
            <a:ext cx="54356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40741" y="3168934"/>
            <a:ext cx="4470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9600" y="4217280"/>
            <a:ext cx="5537200" cy="26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Inferência</a:t>
            </a:r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0" lvl="2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Regra de Sturges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Exemplo do Supermercado</a:t>
            </a:r>
            <a:endParaRPr/>
          </a:p>
          <a:p>
            <a:pPr marL="20574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Histograma</a:t>
            </a:r>
            <a:endParaRPr/>
          </a:p>
        </p:txBody>
      </p:sp>
      <p:pic>
        <p:nvPicPr>
          <p:cNvPr id="207" name="Google Shape;20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3328" y="2756002"/>
            <a:ext cx="6106632" cy="4061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Inferência</a:t>
            </a:r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0" lvl="2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Regra de Sturges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Exemplo do Supermercado</a:t>
            </a:r>
            <a:endParaRPr/>
          </a:p>
          <a:p>
            <a:pPr marL="20574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Vejamos a função de distribuição exponencial</a:t>
            </a:r>
            <a:endParaRPr/>
          </a:p>
          <a:p>
            <a:pPr marL="205740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205740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205740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1828800" lvl="4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20574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Estimando o parâmetro, teremos:</a:t>
            </a:r>
            <a:endParaRPr/>
          </a:p>
          <a:p>
            <a:pPr marL="205740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205740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20574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Função densidade de probabilidade da distribuição</a:t>
            </a:r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3856" y="2728853"/>
            <a:ext cx="2732120" cy="152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3856" y="4473485"/>
            <a:ext cx="2781300" cy="8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04414" y="5631111"/>
            <a:ext cx="40640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222" name="Google Shape;222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Bibliografia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Capítulo 2 “Modelagem dos Dados de Entrada” do livro texto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Apêndice I – Revisão de probabilidade e estatística, no livro texto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Apêndice VII – Distribuições estatísticas, no livro texto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Como encontrar os Quartis em http://pt.wikipedia.org/wiki/Quartil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Microsoft Macintosh PowerPoint</Application>
  <PresentationFormat>Apresentação na tela (4:3)</PresentationFormat>
  <Paragraphs>128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Modelagem e Simulação (Modelagem: tratamento de dados)</vt:lpstr>
      <vt:lpstr>Aula Anterior</vt:lpstr>
      <vt:lpstr>Agenda</vt:lpstr>
      <vt:lpstr>Introdução</vt:lpstr>
      <vt:lpstr>Introdução</vt:lpstr>
      <vt:lpstr>Outliers</vt:lpstr>
      <vt:lpstr>Outliers</vt:lpstr>
      <vt:lpstr>Outliers</vt:lpstr>
      <vt:lpstr>Outliers</vt:lpstr>
      <vt:lpstr>Outliers</vt:lpstr>
      <vt:lpstr>Outliers</vt:lpstr>
      <vt:lpstr>Outliers</vt:lpstr>
      <vt:lpstr>Análise de Correlação</vt:lpstr>
      <vt:lpstr>Análise de Correlação</vt:lpstr>
      <vt:lpstr>Análise de Correlação</vt:lpstr>
      <vt:lpstr>Análise de Correlação</vt:lpstr>
      <vt:lpstr>Inferência</vt:lpstr>
      <vt:lpstr>Inferência</vt:lpstr>
      <vt:lpstr>Inferência</vt:lpstr>
      <vt:lpstr>Inferência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Giovanni N. de Carvalho</cp:lastModifiedBy>
  <cp:revision>1</cp:revision>
  <dcterms:modified xsi:type="dcterms:W3CDTF">2024-09-11T15:46:20Z</dcterms:modified>
</cp:coreProperties>
</file>