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0C8A39A6-536C-C648-AC07-AF4122FF69CE}"/>
    <pc:docChg chg="modSld">
      <pc:chgData name="Carlos Giovanni N. de Carvalho" userId="2892a39a5793b0a7" providerId="LiveId" clId="{0C8A39A6-536C-C648-AC07-AF4122FF69CE}" dt="2024-09-11T15:54:36.630" v="0" actId="20577"/>
      <pc:docMkLst>
        <pc:docMk/>
      </pc:docMkLst>
      <pc:sldChg chg="modSp mod">
        <pc:chgData name="Carlos Giovanni N. de Carvalho" userId="2892a39a5793b0a7" providerId="LiveId" clId="{0C8A39A6-536C-C648-AC07-AF4122FF69CE}" dt="2024-09-11T15:54:36.630" v="0" actId="20577"/>
        <pc:sldMkLst>
          <pc:docMk/>
          <pc:sldMk cId="0" sldId="256"/>
        </pc:sldMkLst>
        <pc:spChg chg="mod">
          <ac:chgData name="Carlos Giovanni N. de Carvalho" userId="2892a39a5793b0a7" providerId="LiveId" clId="{0C8A39A6-536C-C648-AC07-AF4122FF69CE}" dt="2024-09-11T15:54:36.630" v="0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aa311becd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baa311becd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baa311bec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baa311bec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c48c853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bc48c853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02c02a21b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102c02a21b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02c02a21b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102c02a21b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2c02a21b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2c02a21b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br>
              <a:rPr lang="en-US" sz="3959"/>
            </a:br>
            <a:r>
              <a:rPr lang="en-US" sz="3959"/>
              <a:t>(</a:t>
            </a:r>
            <a:r>
              <a:rPr lang="en-US" sz="3959" dirty="0" err="1"/>
              <a:t>Modelagem</a:t>
            </a:r>
            <a:r>
              <a:rPr lang="en-US" sz="3959" dirty="0"/>
              <a:t>: teste de </a:t>
            </a:r>
            <a:r>
              <a:rPr lang="en-US" sz="3959" dirty="0" err="1"/>
              <a:t>aderência</a:t>
            </a:r>
            <a:r>
              <a:rPr lang="en-US" sz="3959" dirty="0"/>
              <a:t>)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Tratamento de dados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Outliers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Análise de correlação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Inferência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Teste de aderência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Teste do qui-quadrado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Teste Kolmogorov-Smirnov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Os dados se ajustam à distribuição escolhida?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Última etapa da modelagem de dados é qualificar a aderência do modelo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Verificar se a distribuição é estatisticamente adequada para representar os dados coletados</a:t>
            </a:r>
            <a:endParaRPr sz="222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Teste de aderência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Testa a validade ou não da hipótese de aderência (ou hipótese nula) em confronto com a hipótese alternativa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 i="1"/>
              <a:t>H</a:t>
            </a:r>
            <a:r>
              <a:rPr lang="en-US" sz="2220" i="1" baseline="-25000"/>
              <a:t>o</a:t>
            </a:r>
            <a:r>
              <a:rPr lang="en-US" sz="2220"/>
              <a:t>: o modelo é adequado para representar a população</a:t>
            </a:r>
            <a:endParaRPr sz="222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 i="1"/>
              <a:t>H</a:t>
            </a:r>
            <a:r>
              <a:rPr lang="en-US" sz="2220" i="1" baseline="-25000"/>
              <a:t>a</a:t>
            </a:r>
            <a:r>
              <a:rPr lang="en-US" sz="2220"/>
              <a:t>: o modelo não é adequado para representar a população</a:t>
            </a:r>
            <a:endParaRPr sz="22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Teste de aderência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 a um dado nível de significância </a:t>
            </a:r>
            <a:r>
              <a:rPr lang="en-US" i="1"/>
              <a:t>α(100)%</a:t>
            </a:r>
            <a:r>
              <a:rPr lang="en-US"/>
              <a:t> rejeitamos </a:t>
            </a:r>
            <a:r>
              <a:rPr lang="en-US" i="1"/>
              <a:t>H</a:t>
            </a:r>
            <a:r>
              <a:rPr lang="en-US" i="1" baseline="-25000"/>
              <a:t>o</a:t>
            </a:r>
            <a:r>
              <a:rPr lang="en-US"/>
              <a:t>, então o modelo não é adequado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i="1"/>
              <a:t>a</a:t>
            </a:r>
            <a:r>
              <a:rPr lang="en-US"/>
              <a:t> equivale à probabilidade de rejeitarmos a hipótese nula </a:t>
            </a:r>
            <a:r>
              <a:rPr lang="en-US" i="1"/>
              <a:t>H</a:t>
            </a:r>
            <a:r>
              <a:rPr lang="en-US" i="1" baseline="-25000"/>
              <a:t>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Existem dois testes “clássicos” de aderência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Qui-quadrado (</a:t>
            </a:r>
            <a:r>
              <a:rPr lang="en-US" i="1"/>
              <a:t>X</a:t>
            </a:r>
            <a:r>
              <a:rPr lang="en-US" i="1" baseline="30000"/>
              <a:t>2</a:t>
            </a:r>
            <a:r>
              <a:rPr lang="en-US"/>
              <a:t>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Kolmogorov-Smirnov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Baseia-se no cálculo dos desvios entre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Frequências acumuladas observadas em cada classe e suas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Frequências teóricas do modelo escolhido</a:t>
            </a:r>
            <a:endParaRPr sz="259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Em cada classe </a:t>
            </a:r>
            <a:r>
              <a:rPr lang="en-US" sz="2960" i="1"/>
              <a:t>k (k = 1,2,…,K)</a:t>
            </a:r>
            <a:r>
              <a:rPr lang="en-US" sz="2960"/>
              <a:t>, calcula-se o valor </a:t>
            </a:r>
            <a:r>
              <a:rPr lang="en-US" sz="2960" i="1"/>
              <a:t>E</a:t>
            </a:r>
            <a:r>
              <a:rPr lang="en-US" sz="2960" i="1" baseline="-25000"/>
              <a:t>k</a:t>
            </a:r>
            <a:r>
              <a:rPr lang="en-US" sz="2960"/>
              <a:t>,</a:t>
            </a:r>
            <a:endParaRPr/>
          </a:p>
          <a:p>
            <a:pPr marL="342900" lvl="0" indent="-15494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endParaRPr sz="2960"/>
          </a:p>
          <a:p>
            <a:pPr marL="457200" lvl="1" indent="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Onde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 i="1"/>
              <a:t>O</a:t>
            </a:r>
            <a:r>
              <a:rPr lang="en-US" sz="2220" i="1" baseline="-25000"/>
              <a:t>k</a:t>
            </a:r>
            <a:r>
              <a:rPr lang="en-US" sz="2220"/>
              <a:t> é o número observado de elementos</a:t>
            </a:r>
            <a:endParaRPr sz="222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 i="1"/>
              <a:t>T</a:t>
            </a:r>
            <a:r>
              <a:rPr lang="en-US" sz="2220" i="1" baseline="-25000"/>
              <a:t>k</a:t>
            </a:r>
            <a:r>
              <a:rPr lang="en-US" sz="2220"/>
              <a:t> é o valor teórico da classe</a:t>
            </a:r>
            <a:endParaRPr sz="2220"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6887" y="4030601"/>
            <a:ext cx="4268573" cy="98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somatório dos valores de </a:t>
            </a:r>
            <a:r>
              <a:rPr lang="en-US" i="1"/>
              <a:t>E</a:t>
            </a:r>
            <a:r>
              <a:rPr lang="en-US" i="1" baseline="-25000"/>
              <a:t>k</a:t>
            </a:r>
            <a:r>
              <a:rPr lang="en-US"/>
              <a:t> ao quadrado, para todas as </a:t>
            </a:r>
            <a:r>
              <a:rPr lang="en-US" i="1"/>
              <a:t>K</a:t>
            </a:r>
            <a:r>
              <a:rPr lang="en-US"/>
              <a:t> classes envolvidas, determina a estatística </a:t>
            </a:r>
            <a:r>
              <a:rPr lang="en-US" i="1"/>
              <a:t>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Para qual a distribuição é a qui-quadrado com </a:t>
            </a:r>
            <a:r>
              <a:rPr lang="en-US" i="1"/>
              <a:t>K-1-n</a:t>
            </a:r>
            <a:r>
              <a:rPr lang="en-US"/>
              <a:t> graus de liberdade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Onde </a:t>
            </a:r>
            <a:r>
              <a:rPr lang="en-US" i="1"/>
              <a:t>n</a:t>
            </a:r>
            <a:r>
              <a:rPr lang="en-US"/>
              <a:t> é o número de parâmetros estimados a partir da amostra coletada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0638" y="5159127"/>
            <a:ext cx="1622551" cy="117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Escolhendo um nível de significância </a:t>
            </a:r>
            <a:r>
              <a:rPr lang="en-US" sz="2590" i="1"/>
              <a:t>α(100)%</a:t>
            </a:r>
            <a:r>
              <a:rPr lang="en-US" sz="2590"/>
              <a:t> e </a:t>
            </a:r>
            <a:r>
              <a:rPr lang="en-US" sz="2590" i="1"/>
              <a:t>K-1-n</a:t>
            </a:r>
            <a:r>
              <a:rPr lang="en-US" sz="2590"/>
              <a:t> graus de liberdade</a:t>
            </a:r>
            <a:endParaRPr sz="259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Obtém-se, da tabela de distribuição do qui-quadrado, o valor </a:t>
            </a:r>
            <a:r>
              <a:rPr lang="en-US" sz="2220" i="1"/>
              <a:t>E</a:t>
            </a:r>
            <a:r>
              <a:rPr lang="en-US" sz="2220" i="1" baseline="-25000"/>
              <a:t>crítico</a:t>
            </a:r>
            <a:endParaRPr sz="2220" i="1" baseline="-25000"/>
          </a:p>
          <a:p>
            <a:pPr marL="1600200" lvl="3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Se </a:t>
            </a:r>
            <a:r>
              <a:rPr lang="en-US" sz="1850" i="1"/>
              <a:t>E &gt; E</a:t>
            </a:r>
            <a:r>
              <a:rPr lang="en-US" sz="1850" i="1" baseline="-25000"/>
              <a:t>crítico</a:t>
            </a:r>
            <a:r>
              <a:rPr lang="en-US" sz="1850"/>
              <a:t> =&gt; rejeita-se a hipótese</a:t>
            </a:r>
            <a:endParaRPr sz="1850"/>
          </a:p>
          <a:p>
            <a:pPr marL="2057400" lvl="4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 b="1"/>
              <a:t>OBS</a:t>
            </a:r>
            <a:r>
              <a:rPr lang="en-US" sz="1850" b="1" baseline="-25000"/>
              <a:t>1</a:t>
            </a:r>
            <a:r>
              <a:rPr lang="en-US" sz="1850"/>
              <a:t>: a hipótese de que a estatística </a:t>
            </a:r>
            <a:r>
              <a:rPr lang="en-US" sz="1850" i="1"/>
              <a:t>E</a:t>
            </a:r>
            <a:r>
              <a:rPr lang="en-US" sz="1850"/>
              <a:t> segue a distribuição do qui-quadrado é geralmente satisfatória, desde que todas as classes tenham frequência &gt;= 5</a:t>
            </a:r>
            <a:endParaRPr/>
          </a:p>
          <a:p>
            <a:pPr marL="2057400" lvl="4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»"/>
            </a:pPr>
            <a:r>
              <a:rPr lang="en-US" sz="1850" b="1"/>
              <a:t>OBS</a:t>
            </a:r>
            <a:r>
              <a:rPr lang="en-US" sz="1850" b="1" baseline="-25000"/>
              <a:t>2</a:t>
            </a:r>
            <a:r>
              <a:rPr lang="en-US" sz="1850"/>
              <a:t>: caso alguma classe não tenha essa característica, ela deve ser agrupada de modo que a condição seja satisfeita</a:t>
            </a:r>
            <a:endParaRPr sz="1850"/>
          </a:p>
          <a:p>
            <a:pPr marL="2514600" lvl="5" indent="-2286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•"/>
            </a:pPr>
            <a:r>
              <a:rPr lang="en-US" sz="1850"/>
              <a:t>Isso implica em diminuição dos graus de liberdade, </a:t>
            </a:r>
            <a:r>
              <a:rPr lang="en-US" sz="1850" i="1"/>
              <a:t>K-1-n</a:t>
            </a:r>
            <a:r>
              <a:rPr lang="en-US" sz="1850"/>
              <a:t>, afinal, com o agrupamento, o número de classes </a:t>
            </a:r>
            <a:r>
              <a:rPr lang="en-US" sz="1850" i="1"/>
              <a:t>K</a:t>
            </a:r>
            <a:r>
              <a:rPr lang="en-US" sz="1850"/>
              <a:t> diminui</a:t>
            </a:r>
            <a:endParaRPr sz="1850"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supermercado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i="1"/>
              <a:t>H</a:t>
            </a:r>
            <a:r>
              <a:rPr lang="en-US" i="1" baseline="-25000"/>
              <a:t>o</a:t>
            </a:r>
            <a:r>
              <a:rPr lang="en-US"/>
              <a:t>: a distribuição da população é exponencial, com média igual a 6,83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i="1"/>
              <a:t>H</a:t>
            </a:r>
            <a:r>
              <a:rPr lang="en-US" i="1" baseline="-25000"/>
              <a:t>a</a:t>
            </a:r>
            <a:r>
              <a:rPr lang="en-US"/>
              <a:t>: a distribuição da população não é exponencial, com média igual a 6,83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Comparar os valores observados com os valores teóricos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Determinar a distribuição teórica das frequências caso seja uma exponencial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57400" lvl="4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Precisamos inicialmente determinar a probabilidade de ocorrência de cada uma das classes </a:t>
            </a:r>
            <a:r>
              <a:rPr lang="en-US" i="1"/>
              <a:t>k</a:t>
            </a:r>
            <a:r>
              <a:rPr lang="en-US"/>
              <a:t> definida no intervalo </a:t>
            </a:r>
            <a:r>
              <a:rPr lang="en-US" i="1"/>
              <a:t>[a, b]</a:t>
            </a:r>
            <a:r>
              <a:rPr lang="en-US"/>
              <a:t> por meio da integral da função densidade de probabilidade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4824" y="3004075"/>
            <a:ext cx="6324823" cy="1167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810" y="4611410"/>
            <a:ext cx="7648576" cy="985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0892" y="292100"/>
            <a:ext cx="5092700" cy="62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000" y="1625600"/>
            <a:ext cx="405130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0" lvl="3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As frequências teóricas de cada classe </a:t>
            </a:r>
            <a:r>
              <a:rPr lang="en-US" i="1"/>
              <a:t>k</a:t>
            </a:r>
            <a:r>
              <a:rPr lang="en-US"/>
              <a:t> são calculadas diretamente por: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2305570"/>
            <a:ext cx="6549442" cy="528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4488" y="2898925"/>
            <a:ext cx="12954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5877" y="3469472"/>
            <a:ext cx="4940300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Como foi estimada somente a média da distribuição a partir da amostra, então </a:t>
            </a:r>
            <a:r>
              <a:rPr lang="en-US" i="1"/>
              <a:t>n = 1</a:t>
            </a:r>
            <a:r>
              <a:rPr lang="en-US"/>
              <a:t> e o número de classes </a:t>
            </a:r>
            <a:r>
              <a:rPr lang="en-US" i="1"/>
              <a:t>K = 5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O número de graus de liberdade é </a:t>
            </a:r>
            <a:r>
              <a:rPr lang="en-US" i="1"/>
              <a:t>K – 1 – n = 5 – 1 – 1 = 3</a:t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3423" y="1613868"/>
            <a:ext cx="6702081" cy="3152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Qui-quadrado </a:t>
            </a:r>
            <a:r>
              <a:rPr lang="en-US" i="1"/>
              <a:t>X</a:t>
            </a:r>
            <a:r>
              <a:rPr lang="en-US" i="1" baseline="30000"/>
              <a:t>2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0" lvl="3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Assumindo um nível de significância, </a:t>
            </a:r>
            <a:r>
              <a:rPr lang="en-US" i="1"/>
              <a:t>α(100)%</a:t>
            </a:r>
            <a:r>
              <a:rPr lang="en-US"/>
              <a:t> igual a </a:t>
            </a:r>
            <a:r>
              <a:rPr lang="en-US" i="1"/>
              <a:t>5%</a:t>
            </a:r>
            <a:r>
              <a:rPr lang="en-US"/>
              <a:t>, e </a:t>
            </a:r>
            <a:r>
              <a:rPr lang="en-US" i="1"/>
              <a:t>3 </a:t>
            </a:r>
            <a:r>
              <a:rPr lang="en-US"/>
              <a:t>graus de liberdade, o valor de </a:t>
            </a:r>
            <a:r>
              <a:rPr lang="en-US" i="1"/>
              <a:t>E</a:t>
            </a:r>
            <a:r>
              <a:rPr lang="en-US" i="1" baseline="-25000"/>
              <a:t>crítico</a:t>
            </a:r>
            <a:r>
              <a:rPr lang="en-US"/>
              <a:t>, retirado da tabela da distribuição qui-quadrado, é de </a:t>
            </a:r>
            <a:r>
              <a:rPr lang="en-US" i="1"/>
              <a:t>7,8147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Como </a:t>
            </a:r>
            <a:r>
              <a:rPr lang="en-US" i="1"/>
              <a:t>E (1,44)</a:t>
            </a:r>
            <a:r>
              <a:rPr lang="en-US"/>
              <a:t> é menor que </a:t>
            </a:r>
            <a:r>
              <a:rPr lang="en-US" i="1"/>
              <a:t>E</a:t>
            </a:r>
            <a:r>
              <a:rPr lang="en-US" i="1" baseline="-25000"/>
              <a:t>crítico</a:t>
            </a:r>
            <a:r>
              <a:rPr lang="en-US" i="1"/>
              <a:t> (7,8147)</a:t>
            </a:r>
            <a:r>
              <a:rPr lang="en-US"/>
              <a:t>, não se rejeita a hipótese </a:t>
            </a:r>
            <a:r>
              <a:rPr lang="en-US" i="1"/>
              <a:t>H</a:t>
            </a:r>
            <a:r>
              <a:rPr lang="en-US" i="1" baseline="-25000"/>
              <a:t>o</a:t>
            </a:r>
            <a:r>
              <a:rPr lang="en-US"/>
              <a:t>, de que a distribuição exponencial adere aos dados observados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Quando o número de valores observados é pequeno, o teste do qui-quadrado pode não ser conclusivo, pois o número de graus de liberdade cai muito</a:t>
            </a: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Neste aspecto, o teste de Kolmogorov-Smirnov tem um desempenho melhor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5767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475" y="152400"/>
            <a:ext cx="4074103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0" y="4514850"/>
            <a:ext cx="42576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Compara as funções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Função acumulada (ou função de repartição) do modelo teórico com 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Função acumulada de probabilidade observada (feita a partir dos valores observados)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Comparar se o modelo observado adere ao modelo teórico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Distância absoluta máxima </a:t>
            </a:r>
            <a:r>
              <a:rPr lang="en-US" i="1"/>
              <a:t>(D)</a:t>
            </a:r>
            <a:r>
              <a:rPr lang="en-US"/>
              <a:t> entre duas distribuições acumuladas, através da estatística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Onde: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D</a:t>
            </a:r>
            <a:r>
              <a:rPr lang="en-US"/>
              <a:t> é a distância absoluta máxima;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S(x)</a:t>
            </a:r>
            <a:r>
              <a:rPr lang="en-US"/>
              <a:t> é a função acumulada observada;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F(x)</a:t>
            </a:r>
            <a:r>
              <a:rPr lang="en-US"/>
              <a:t> é a função acumulada teórica.</a:t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6006" y="1994434"/>
            <a:ext cx="3411394" cy="93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figura abaixo ilustra o significado da estatística </a:t>
            </a:r>
            <a:r>
              <a:rPr lang="en-US" i="1"/>
              <a:t>D</a:t>
            </a:r>
            <a:r>
              <a:rPr lang="en-US"/>
              <a:t> do teste </a:t>
            </a:r>
            <a:r>
              <a:rPr lang="en-US" i="1"/>
              <a:t>KS</a:t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2286" y="2845380"/>
            <a:ext cx="4864100" cy="36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 os valores observados aderem ao modelo teórico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Os valores de </a:t>
            </a:r>
            <a:r>
              <a:rPr lang="en-US" i="1"/>
              <a:t>S(x)</a:t>
            </a:r>
            <a:r>
              <a:rPr lang="en-US"/>
              <a:t> e </a:t>
            </a:r>
            <a:r>
              <a:rPr lang="en-US" i="1"/>
              <a:t>F(x)</a:t>
            </a:r>
            <a:r>
              <a:rPr lang="en-US"/>
              <a:t> devem estar próximos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distância absoluta entre os valores está dentro de limites de erros aleatórios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Quanto menor o valor da estatística </a:t>
            </a:r>
            <a:r>
              <a:rPr lang="en-US" i="1"/>
              <a:t>D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Mais próximas entre si estarão as duas funções acumuladas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218" name="Google Shape;218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valor dessa distância é comparado com um  valor teórico </a:t>
            </a:r>
            <a:r>
              <a:rPr lang="en-US" i="1"/>
              <a:t>D</a:t>
            </a:r>
            <a:r>
              <a:rPr lang="en-US" i="1" baseline="-25000"/>
              <a:t>crítico</a:t>
            </a:r>
            <a:r>
              <a:rPr lang="en-US"/>
              <a:t> relacionado na tabela de valores críticos do teste </a:t>
            </a:r>
            <a:r>
              <a:rPr lang="en-US" i="1"/>
              <a:t>KS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Níveis de significância </a:t>
            </a:r>
            <a:r>
              <a:rPr lang="en-US" i="1"/>
              <a:t>α(100)% </a:t>
            </a:r>
            <a:r>
              <a:rPr lang="en-US"/>
              <a:t>de </a:t>
            </a:r>
            <a:r>
              <a:rPr lang="en-US" i="1"/>
              <a:t>1%</a:t>
            </a:r>
            <a:r>
              <a:rPr lang="en-US"/>
              <a:t>, </a:t>
            </a:r>
            <a:r>
              <a:rPr lang="en-US" i="1"/>
              <a:t>5%</a:t>
            </a:r>
            <a:r>
              <a:rPr lang="en-US"/>
              <a:t> e </a:t>
            </a:r>
            <a:r>
              <a:rPr lang="en-US" i="1"/>
              <a:t>10%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 </a:t>
            </a:r>
            <a:r>
              <a:rPr lang="en-US" i="1"/>
              <a:t>D &gt; D</a:t>
            </a:r>
            <a:r>
              <a:rPr lang="en-US" i="1" baseline="-25000"/>
              <a:t>crítico</a:t>
            </a:r>
            <a:r>
              <a:rPr lang="en-US"/>
              <a:t>, então, rejeita-se a hipótese de aderência </a:t>
            </a:r>
            <a:r>
              <a:rPr lang="en-US" i="1"/>
              <a:t>H</a:t>
            </a:r>
            <a:r>
              <a:rPr lang="en-US" i="1" baseline="-25000"/>
              <a:t>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 </a:t>
            </a:r>
            <a:r>
              <a:rPr lang="en-US" i="1"/>
              <a:t>D &lt;= D</a:t>
            </a:r>
            <a:r>
              <a:rPr lang="en-US" i="1" baseline="-25000"/>
              <a:t>crítico</a:t>
            </a:r>
            <a:r>
              <a:rPr lang="en-US"/>
              <a:t>, não temos razão para rejeitar a hipótese de aderência </a:t>
            </a:r>
            <a:r>
              <a:rPr lang="en-US" i="1"/>
              <a:t>H</a:t>
            </a:r>
            <a:r>
              <a:rPr lang="en-US" i="1" baseline="-25000"/>
              <a:t>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Função acumulada dos dados observados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Função acumulada do modelo teórico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Estimativa pelo maior valor entre os dois:</a:t>
            </a:r>
            <a:endParaRPr/>
          </a:p>
        </p:txBody>
      </p:sp>
      <p:pic>
        <p:nvPicPr>
          <p:cNvPr id="225" name="Google Shape;22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823" y="2166174"/>
            <a:ext cx="6746709" cy="13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2250" y="3796850"/>
            <a:ext cx="4717750" cy="79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4374" y="5117771"/>
            <a:ext cx="3466627" cy="952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i="1" baseline="-250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i="1" baseline="-25000"/>
          </a:p>
        </p:txBody>
      </p:sp>
      <p:pic>
        <p:nvPicPr>
          <p:cNvPr id="234" name="Google Shape;23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500"/>
            <a:ext cx="9144000" cy="5955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i="1" baseline="-250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i="1" baseline="-25000"/>
          </a:p>
        </p:txBody>
      </p:sp>
      <p:pic>
        <p:nvPicPr>
          <p:cNvPr id="241" name="Google Shape;24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2700"/>
            <a:ext cx="9144000" cy="428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Kolmogorov-Smirnov (KS)</a:t>
            </a:r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valor máximo de nosso exemplo é </a:t>
            </a:r>
            <a:r>
              <a:rPr lang="en-US" i="1"/>
              <a:t>D = 0,08.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 </a:t>
            </a:r>
            <a:r>
              <a:rPr lang="en-US" i="1"/>
              <a:t>n = 199</a:t>
            </a:r>
            <a:r>
              <a:rPr lang="en-US"/>
              <a:t> e para um nível de significância </a:t>
            </a:r>
            <a:r>
              <a:rPr lang="en-US" i="1"/>
              <a:t>α = 5%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i="1"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i="1"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Não se pode rejeitar a hipótese de aderência dos dados</a:t>
            </a:r>
            <a:endParaRPr/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1912" y="2670371"/>
            <a:ext cx="4630712" cy="1078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5762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2425" y="152400"/>
            <a:ext cx="374865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Distribuição Contínua</a:t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650" y="1609463"/>
            <a:ext cx="6338704" cy="51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2650" y="1276100"/>
            <a:ext cx="633870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seguir, cálculo da probabilidade de cada classe usando a Lognormal como função de distribuição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Autores: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Hícaro José Barbosa Soares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# Jhon Wilker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Marcus Pessoa</a:t>
            </a:r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Probabilidade da Lognormal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175" y="143176"/>
            <a:ext cx="6225649" cy="59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1"/>
          <p:cNvSpPr txBox="1"/>
          <p:nvPr/>
        </p:nvSpPr>
        <p:spPr>
          <a:xfrm>
            <a:off x="1433125" y="6165900"/>
            <a:ext cx="6225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https://pt.wikipedia.org/wiki/Distribui%C3%A7%C3%A3o_de_probabilidade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https://pt.wikipedia.org/wiki/Distribui%C3%A7%C3%A3o_normal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Ativo Financeiro: Ibov (Índice Bovespa)</a:t>
            </a:r>
            <a:endParaRPr/>
          </a:p>
        </p:txBody>
      </p:sp>
      <p:sp>
        <p:nvSpPr>
          <p:cNvPr id="279" name="Google Shape;279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Probabilidade da Lognormal</a:t>
            </a: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600" y="2201475"/>
            <a:ext cx="3666800" cy="44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286" name="Google Shape;286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Bibliografia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Capítulo 2 “Modelagem dos Dados de Entrada” do livro texto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Apêndice I – Revisão de probabilidade e estatística, no livro texto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Apêndice VI – Tabelas, no livro texto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Apêndice VII – Distribuições estatísticas, no livro texto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Integral definida em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http://www.somatematica.com.br/superior/integrais/integrais5.php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http://www.hottopos.com.br/regeq8/cardoso2.htm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Macintosh PowerPoint</Application>
  <PresentationFormat>Apresentação na tela (4:3)</PresentationFormat>
  <Paragraphs>139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Modelagem e Simulação (Modelagem: teste de aderência)</vt:lpstr>
      <vt:lpstr>Aula Anterior</vt:lpstr>
      <vt:lpstr>Agenda</vt:lpstr>
      <vt:lpstr>Introdução</vt:lpstr>
      <vt:lpstr>Introdução</vt:lpstr>
      <vt:lpstr>Qui-quadrado X2</vt:lpstr>
      <vt:lpstr>Qui-quadrado X2</vt:lpstr>
      <vt:lpstr>Qui-quadrado X2</vt:lpstr>
      <vt:lpstr>Qui-quadrado X2</vt:lpstr>
      <vt:lpstr>Qui-quadrado X2</vt:lpstr>
      <vt:lpstr>Qui-quadrado X2</vt:lpstr>
      <vt:lpstr>Qui-quadrado X2</vt:lpstr>
      <vt:lpstr>Qui-quadrado X2</vt:lpstr>
      <vt:lpstr>Qui-quadrado X2</vt:lpstr>
      <vt:lpstr>Qui-quadrado X2</vt:lpstr>
      <vt:lpstr>Apresentação do PowerPoint</vt:lpstr>
      <vt:lpstr>Kolmogorov-Smirnov (KS)</vt:lpstr>
      <vt:lpstr>Kolmogorov-Smirnov (KS)</vt:lpstr>
      <vt:lpstr>Kolmogorov-Smirnov (KS)</vt:lpstr>
      <vt:lpstr>Kolmogorov-Smirnov (KS)</vt:lpstr>
      <vt:lpstr>Kolmogorov-Smirnov (KS)</vt:lpstr>
      <vt:lpstr>Kolmogorov-Smirnov (KS)</vt:lpstr>
      <vt:lpstr>Apresentação do PowerPoint</vt:lpstr>
      <vt:lpstr>Apresentação do PowerPoint</vt:lpstr>
      <vt:lpstr>Kolmogorov-Smirnov (KS)</vt:lpstr>
      <vt:lpstr>Apresentação do PowerPoint</vt:lpstr>
      <vt:lpstr>Distribuição Contínua</vt:lpstr>
      <vt:lpstr>Probabilidade da Lognormal</vt:lpstr>
      <vt:lpstr>Apresentação do PowerPoint</vt:lpstr>
      <vt:lpstr>Probabilidade da Lognormal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2024-09-11T15:54:38Z</dcterms:modified>
</cp:coreProperties>
</file>