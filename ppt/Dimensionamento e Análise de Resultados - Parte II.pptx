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4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0C882-3FF7-8043-802F-4849A19EB678}" v="4" dt="2024-11-26T13:47:03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726"/>
  </p:normalViewPr>
  <p:slideViewPr>
    <p:cSldViewPr snapToGrid="0"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E0344C97-51FA-B941-AA13-7D93A2349FDE}"/>
    <pc:docChg chg="undo custSel modSld">
      <pc:chgData name="Carlos Giovanni N. de Carvalho" userId="2892a39a5793b0a7" providerId="LiveId" clId="{E0344C97-51FA-B941-AA13-7D93A2349FDE}" dt="2024-06-04T17:34:23.288" v="33" actId="1076"/>
      <pc:docMkLst>
        <pc:docMk/>
      </pc:docMkLst>
      <pc:sldChg chg="modSp mod">
        <pc:chgData name="Carlos Giovanni N. de Carvalho" userId="2892a39a5793b0a7" providerId="LiveId" clId="{E0344C97-51FA-B941-AA13-7D93A2349FDE}" dt="2024-06-04T12:12:11.510" v="1" actId="27636"/>
        <pc:sldMkLst>
          <pc:docMk/>
          <pc:sldMk cId="0" sldId="256"/>
        </pc:sldMkLst>
      </pc:sldChg>
      <pc:sldChg chg="modSp mod">
        <pc:chgData name="Carlos Giovanni N. de Carvalho" userId="2892a39a5793b0a7" providerId="LiveId" clId="{E0344C97-51FA-B941-AA13-7D93A2349FDE}" dt="2024-06-04T12:13:17.165" v="8" actId="1076"/>
        <pc:sldMkLst>
          <pc:docMk/>
          <pc:sldMk cId="0" sldId="261"/>
        </pc:sldMkLst>
      </pc:sldChg>
      <pc:sldChg chg="modSp mod">
        <pc:chgData name="Carlos Giovanni N. de Carvalho" userId="2892a39a5793b0a7" providerId="LiveId" clId="{E0344C97-51FA-B941-AA13-7D93A2349FDE}" dt="2024-06-04T17:34:23.288" v="33" actId="1076"/>
        <pc:sldMkLst>
          <pc:docMk/>
          <pc:sldMk cId="0" sldId="265"/>
        </pc:sldMkLst>
      </pc:sldChg>
      <pc:sldChg chg="modSp mod">
        <pc:chgData name="Carlos Giovanni N. de Carvalho" userId="2892a39a5793b0a7" providerId="LiveId" clId="{E0344C97-51FA-B941-AA13-7D93A2349FDE}" dt="2024-06-04T12:15:27.514" v="32" actId="1076"/>
        <pc:sldMkLst>
          <pc:docMk/>
          <pc:sldMk cId="0" sldId="278"/>
        </pc:sldMkLst>
      </pc:sldChg>
    </pc:docChg>
  </pc:docChgLst>
  <pc:docChgLst>
    <pc:chgData name="Carlos Giovanni N. de Carvalho" userId="2892a39a5793b0a7" providerId="LiveId" clId="{D580C882-3FF7-8043-802F-4849A19EB678}"/>
    <pc:docChg chg="addSld modSld">
      <pc:chgData name="Carlos Giovanni N. de Carvalho" userId="2892a39a5793b0a7" providerId="LiveId" clId="{D580C882-3FF7-8043-802F-4849A19EB678}" dt="2024-11-26T13:47:14.737" v="36" actId="1076"/>
      <pc:docMkLst>
        <pc:docMk/>
      </pc:docMkLst>
      <pc:sldChg chg="addSp modSp new mod">
        <pc:chgData name="Carlos Giovanni N. de Carvalho" userId="2892a39a5793b0a7" providerId="LiveId" clId="{D580C882-3FF7-8043-802F-4849A19EB678}" dt="2024-11-26T13:47:14.737" v="36" actId="1076"/>
        <pc:sldMkLst>
          <pc:docMk/>
          <pc:sldMk cId="2762344919" sldId="285"/>
        </pc:sldMkLst>
        <pc:spChg chg="mod">
          <ac:chgData name="Carlos Giovanni N. de Carvalho" userId="2892a39a5793b0a7" providerId="LiveId" clId="{D580C882-3FF7-8043-802F-4849A19EB678}" dt="2024-11-26T13:46:27.786" v="29" actId="20577"/>
          <ac:spMkLst>
            <pc:docMk/>
            <pc:sldMk cId="2762344919" sldId="285"/>
            <ac:spMk id="2" creationId="{E28A2BAD-B9B0-46FF-92F3-F6B5D35967FE}"/>
          </ac:spMkLst>
        </pc:spChg>
        <pc:picChg chg="add mod">
          <ac:chgData name="Carlos Giovanni N. de Carvalho" userId="2892a39a5793b0a7" providerId="LiveId" clId="{D580C882-3FF7-8043-802F-4849A19EB678}" dt="2024-11-26T13:47:14.737" v="36" actId="1076"/>
          <ac:picMkLst>
            <pc:docMk/>
            <pc:sldMk cId="2762344919" sldId="285"/>
            <ac:picMk id="4" creationId="{D0BD752E-D5DA-20E8-30A4-1D53BF57D040}"/>
          </ac:picMkLst>
        </pc:picChg>
        <pc:picChg chg="add">
          <ac:chgData name="Carlos Giovanni N. de Carvalho" userId="2892a39a5793b0a7" providerId="LiveId" clId="{D580C882-3FF7-8043-802F-4849A19EB678}" dt="2024-11-26T13:46:50.682" v="31"/>
          <ac:picMkLst>
            <pc:docMk/>
            <pc:sldMk cId="2762344919" sldId="285"/>
            <ac:picMk id="5" creationId="{2877B281-9ACB-17EF-5380-B252C69C285C}"/>
          </ac:picMkLst>
        </pc:picChg>
        <pc:picChg chg="add mod">
          <ac:chgData name="Carlos Giovanni N. de Carvalho" userId="2892a39a5793b0a7" providerId="LiveId" clId="{D580C882-3FF7-8043-802F-4849A19EB678}" dt="2024-11-26T13:47:10.214" v="34" actId="14100"/>
          <ac:picMkLst>
            <pc:docMk/>
            <pc:sldMk cId="2762344919" sldId="285"/>
            <ac:picMk id="6" creationId="{059F261F-7D38-48C5-0ED5-2694F8EB52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156296f33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1156296f33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56296f33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1156296f33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56296f33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1156296f33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156296f33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1156296f33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156296f33a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1156296f33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56296f33a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1156296f33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56296f33a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1156296f33a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156296f33a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1156296f33a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56296f33a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1156296f33a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56296f33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1156296f33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56296f33a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1156296f33a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56296f33a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1156296f33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156296f33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1156296f33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56296f33a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1156296f33a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 err="1"/>
              <a:t>Dimensionamento</a:t>
            </a:r>
            <a:r>
              <a:rPr lang="en-US" dirty="0"/>
              <a:t> e </a:t>
            </a:r>
            <a:r>
              <a:rPr lang="en-US" dirty="0" err="1"/>
              <a:t>Análise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 - </a:t>
            </a:r>
            <a:r>
              <a:rPr lang="en-US" dirty="0" err="1"/>
              <a:t>Parte</a:t>
            </a:r>
            <a:r>
              <a:rPr lang="en-US" dirty="0"/>
              <a:t> II</a:t>
            </a:r>
            <a:endParaRPr dirty="0"/>
          </a:p>
        </p:txBody>
      </p:sp>
      <p:sp>
        <p:nvSpPr>
          <p:cNvPr id="160" name="Google Shape;160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Dimensionamento e análise dos resultados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Introdução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Tipos de regimes</a:t>
            </a:r>
            <a:endParaRPr/>
          </a:p>
          <a:p>
            <a:pPr marL="1143000" lvl="2" indent="-2667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Transitório e permanente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Tipos de simulação</a:t>
            </a:r>
            <a:endParaRPr/>
          </a:p>
          <a:p>
            <a:pPr marL="1143000" lvl="2" indent="-2667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Terminal e não terminal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Medidas de desempenho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Replicação e rodada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Dimensionamento e análise dos resultados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Precisão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Análise dos dados de saída </a:t>
            </a:r>
            <a:endParaRPr/>
          </a:p>
          <a:p>
            <a:pPr marL="1143000" lvl="2" indent="-292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Sistemas terminais</a:t>
            </a:r>
            <a:endParaRPr/>
          </a:p>
          <a:p>
            <a:pPr marL="1143000" lvl="2" indent="-292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Sistemas não terminais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Comparar resultados</a:t>
            </a:r>
            <a:endParaRPr/>
          </a:p>
          <a:p>
            <a:pPr marL="1143000" lvl="2" indent="-292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Alternativas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Cada rodada do modelo deve ser entendida como um novo experimento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Qual a média ideal que devemos confiar?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Confiança estatística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Intervalo de confiança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Intervalo de valores que contém a média da população, com uma certa probabilidade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Quanto maior a probabilidade, maior a confiança estatística de que a média encontra-se nesse intervalo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Precisão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Tamanho do intervalo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Intervalo de confiança</a:t>
            </a:r>
            <a:endParaRPr/>
          </a:p>
          <a:p>
            <a:pPr marL="0" lvl="0" indent="475456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ou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onde:</a:t>
            </a:r>
            <a:endParaRPr/>
          </a:p>
          <a:p>
            <a:pPr marL="0" lvl="0" indent="541338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é a média da amostra;</a:t>
            </a:r>
            <a:endParaRPr/>
          </a:p>
          <a:p>
            <a:pPr marL="185738" lvl="0" indent="187483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é a metade do tamanho do intervalo de confiança (precisão)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725" y="2769776"/>
            <a:ext cx="1245450" cy="33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6765" y="3230902"/>
            <a:ext cx="4008543" cy="595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008" y="3039936"/>
            <a:ext cx="2035175" cy="10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6765" y="4343400"/>
            <a:ext cx="312738" cy="53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113" y="4704823"/>
            <a:ext cx="1735898" cy="86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5738" lvl="0" indent="14255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 err="1"/>
              <a:t>é</a:t>
            </a:r>
            <a:r>
              <a:rPr lang="en-US" dirty="0"/>
              <a:t> o 		</a:t>
            </a:r>
            <a:r>
              <a:rPr lang="en-US" dirty="0" err="1"/>
              <a:t>percentil</a:t>
            </a:r>
            <a:r>
              <a:rPr lang="en-US" dirty="0"/>
              <a:t> da </a:t>
            </a:r>
            <a:r>
              <a:rPr lang="en-US" dirty="0" err="1"/>
              <a:t>distribuição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de Student com </a:t>
            </a:r>
            <a:r>
              <a:rPr lang="en-US" i="1" dirty="0"/>
              <a:t>	</a:t>
            </a:r>
            <a:r>
              <a:rPr lang="en-US" dirty="0"/>
              <a:t> </a:t>
            </a:r>
            <a:r>
              <a:rPr lang="en-US" dirty="0" err="1"/>
              <a:t>graus</a:t>
            </a:r>
            <a:r>
              <a:rPr lang="en-US" dirty="0"/>
              <a:t> de </a:t>
            </a:r>
            <a:r>
              <a:rPr lang="en-US" dirty="0" err="1"/>
              <a:t>liberdade</a:t>
            </a:r>
            <a:endParaRPr dirty="0"/>
          </a:p>
          <a:p>
            <a:pPr marL="185738" lvl="0" indent="619125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desvio-padrão</a:t>
            </a:r>
            <a:r>
              <a:rPr lang="en-US" dirty="0"/>
              <a:t> da </a:t>
            </a:r>
            <a:r>
              <a:rPr lang="en-US" dirty="0" err="1"/>
              <a:t>amostra</a:t>
            </a:r>
            <a:endParaRPr dirty="0"/>
          </a:p>
          <a:p>
            <a:pPr marL="185738" lvl="0" indent="619125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número</a:t>
            </a:r>
            <a:r>
              <a:rPr lang="en-US" dirty="0"/>
              <a:t> de dados da </a:t>
            </a:r>
            <a:r>
              <a:rPr lang="en-US" dirty="0" err="1"/>
              <a:t>amostra</a:t>
            </a:r>
            <a:endParaRPr dirty="0"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275" y="1579130"/>
            <a:ext cx="1038776" cy="58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1163" y="1778000"/>
            <a:ext cx="974725" cy="33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1036" y="2287588"/>
            <a:ext cx="498475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827" y="2852305"/>
            <a:ext cx="302806" cy="36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4713" y="3419908"/>
            <a:ext cx="338137" cy="369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5116" y="2252569"/>
            <a:ext cx="5809066" cy="4512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Intervalos para 10 replicações</a:t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800" y="2760377"/>
            <a:ext cx="7264400" cy="37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Intervalos para 20 replicações</a:t>
            </a:r>
            <a:endParaRPr/>
          </a:p>
        </p:txBody>
      </p:sp>
      <p:pic>
        <p:nvPicPr>
          <p:cNvPr id="221" name="Google Shape;22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988" y="2804052"/>
            <a:ext cx="7226300" cy="37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Quantas </a:t>
            </a:r>
            <a:r>
              <a:rPr lang="en-US" dirty="0" err="1"/>
              <a:t>replicações</a:t>
            </a:r>
            <a:r>
              <a:rPr lang="en-US" dirty="0"/>
              <a:t> </a:t>
            </a:r>
            <a:r>
              <a:rPr lang="en-US" dirty="0" err="1"/>
              <a:t>devemos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 para </a:t>
            </a:r>
            <a:r>
              <a:rPr lang="en-US" dirty="0" err="1"/>
              <a:t>obtermos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precisão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a um valor 	  ?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Usar a </a:t>
            </a:r>
            <a:r>
              <a:rPr lang="en-US" dirty="0" err="1"/>
              <a:t>técnica</a:t>
            </a:r>
            <a:r>
              <a:rPr lang="en-US" dirty="0"/>
              <a:t> </a:t>
            </a:r>
            <a:r>
              <a:rPr lang="en-US" dirty="0" err="1"/>
              <a:t>Amostra-piloto</a:t>
            </a: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/>
              <a:t>onde</a:t>
            </a:r>
            <a:r>
              <a:rPr lang="en-US" dirty="0"/>
              <a:t>:</a:t>
            </a:r>
            <a:endParaRPr dirty="0"/>
          </a:p>
          <a:p>
            <a:pPr marL="1068388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/>
              <a:t>corresponde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arredondamento</a:t>
            </a:r>
            <a:r>
              <a:rPr lang="en-US" dirty="0"/>
              <a:t> para o </a:t>
            </a:r>
            <a:r>
              <a:rPr lang="en-US" dirty="0" err="1"/>
              <a:t>número</a:t>
            </a:r>
            <a:r>
              <a:rPr lang="en-US" dirty="0"/>
              <a:t> </a:t>
            </a:r>
            <a:r>
              <a:rPr lang="en-US" dirty="0" err="1"/>
              <a:t>inteiro</a:t>
            </a:r>
            <a:r>
              <a:rPr lang="en-US" dirty="0"/>
              <a:t> </a:t>
            </a:r>
            <a:r>
              <a:rPr lang="en-US" dirty="0" err="1"/>
              <a:t>acima</a:t>
            </a:r>
            <a:r>
              <a:rPr lang="en-US" dirty="0"/>
              <a:t> de</a:t>
            </a:r>
            <a:endParaRPr i="1" dirty="0"/>
          </a:p>
        </p:txBody>
      </p:sp>
      <p:pic>
        <p:nvPicPr>
          <p:cNvPr id="228" name="Google Shape;22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2040" y="2104811"/>
            <a:ext cx="569700" cy="46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2261" y="3623349"/>
            <a:ext cx="2373312" cy="137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790" y="5438064"/>
            <a:ext cx="601663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1468" y="5707939"/>
            <a:ext cx="333375" cy="3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Intervalo de confiança de 99% e precisão de 0,5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Para 73 replicações, o número médio de pessoas na fila é de 0,76 e o desvio-padrão é de 1,40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Para um grau de confiança de 99%, então</a:t>
            </a:r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6438" y="2760235"/>
            <a:ext cx="5046662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1238" y="5194300"/>
            <a:ext cx="1466850" cy="46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3500"/>
            <a:ext cx="9144000" cy="6729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35000"/>
            <a:ext cx="8064500" cy="55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Precisão</a:t>
            </a:r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Na tabela de distribuição </a:t>
            </a:r>
            <a:r>
              <a:rPr lang="en-US" i="1"/>
              <a:t>t</a:t>
            </a:r>
            <a:r>
              <a:rPr lang="en-US"/>
              <a:t> de Student, temos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Então</a:t>
            </a:r>
            <a:endParaRPr/>
          </a:p>
        </p:txBody>
      </p:sp>
      <p:pic>
        <p:nvPicPr>
          <p:cNvPr id="260" name="Google Shape;26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7313" y="2808003"/>
            <a:ext cx="3743325" cy="56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4700" y="3853195"/>
            <a:ext cx="5213350" cy="110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775" y="5117860"/>
            <a:ext cx="7172325" cy="5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3463" y="6012005"/>
            <a:ext cx="2317750" cy="46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dos Dados de Saída</a:t>
            </a:r>
            <a:endParaRPr/>
          </a:p>
        </p:txBody>
      </p:sp>
      <p:sp>
        <p:nvSpPr>
          <p:cNvPr id="269" name="Google Shape;269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Sistemas terminais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Têm momento exato no tempo para finalizar a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Dois valores precisam ser determinados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Duração da simulação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Número de replicações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duração de simulação é determinada pela duração do período de operação do próprio sistema real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dos Dados de Saída</a:t>
            </a:r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Etapas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Estabelecer as medidas de desempenho adequadas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Escolher a confiança estatística e a precisão desejada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Construir a “amostra-piloto” e estimar o intervalo de confiança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Determinar o número de replicações necessárias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Rodar o modelo novamente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Calcular o novo intervalo de confiança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dos Dados de Saída</a:t>
            </a:r>
            <a:endParaRPr/>
          </a:p>
        </p:txBody>
      </p:sp>
      <p:sp>
        <p:nvSpPr>
          <p:cNvPr id="281" name="Google Shape;281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Sistemas não terminais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tem um instante exato para o término da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Questão a ser respondida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Por quanto tempo cada replicação deve ser executada?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simulação deve ser executada de modo que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Os dados de saída sejam obrigatoriamente coletadas durante o estado de regime permanente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dos Dados de Saída</a:t>
            </a:r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Sistemas não terminais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Etapas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Estabelecer as condições iniciais do sistema próximas daquelas encontradas em regime permanente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Rodar o modelo por um tempo de simulação longo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Eliminar, dos dados de saída, todos os valores gerados durante o período de aquecimento ou “warm-up”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Estabelecer as medidas de desempenho adequadas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Escolher a confiança estatística e a precisão desejadas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Identificar o período de aquecimento (warm-up)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dos Dados de Saída</a:t>
            </a:r>
            <a:endParaRPr/>
          </a:p>
        </p:txBody>
      </p:sp>
      <p:sp>
        <p:nvSpPr>
          <p:cNvPr id="293" name="Google Shape;293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Determinar o tempo de simulação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 tempo de processamento é muito longo: criar lotes e construir os intervalos de confiança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299" name="Google Shape;299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 um modelo de simulação pronto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Podemos testar diversas alternativas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Antes de implementá-las na prática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Os resultados obtidos pelo modelo são expressos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Na forma de intervalos de confiança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problema é decidir qual das alternativas simuladas apresenta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melhor desempenho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Comparação entre duas alternativas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Aplicamos um teste estatístico para comparação entre duas médias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Notação usada daqui para frente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é a observação obtida pela </a:t>
            </a:r>
            <a:r>
              <a:rPr lang="en-US" i="1"/>
              <a:t>i-ésima</a:t>
            </a:r>
            <a:r>
              <a:rPr lang="en-US"/>
              <a:t> replicação da simulação da alternativa 1, para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é a observação obtida pela </a:t>
            </a:r>
            <a:r>
              <a:rPr lang="en-US" i="1"/>
              <a:t>i-ésima</a:t>
            </a:r>
            <a:r>
              <a:rPr lang="en-US"/>
              <a:t> replicação da simulação da alternativa 2, para</a:t>
            </a:r>
            <a:endParaRPr/>
          </a:p>
        </p:txBody>
      </p:sp>
      <p:pic>
        <p:nvPicPr>
          <p:cNvPr id="306" name="Google Shape;30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532" y="3706694"/>
            <a:ext cx="521007" cy="50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3569" y="4145159"/>
            <a:ext cx="1608168" cy="38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813" y="4486275"/>
            <a:ext cx="555624" cy="50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03875" y="4940300"/>
            <a:ext cx="1636711" cy="38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15" name="Google Shape;315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Caso 1: alternativas com o mesmo número de replicações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 as duas alternativas foram simuladas por um mesmo número de replicações, ou seja, </a:t>
            </a:r>
            <a:br>
              <a:rPr lang="en-US"/>
            </a:br>
            <a:r>
              <a:rPr lang="en-US"/>
              <a:t>pode ser usado o teste </a:t>
            </a:r>
            <a:r>
              <a:rPr lang="en-US" i="1"/>
              <a:t>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Passo 1: Calcular as diferenças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Passo 2: Calcular a média e o desvio-padrão das diferenças</a:t>
            </a:r>
            <a:endParaRPr/>
          </a:p>
        </p:txBody>
      </p:sp>
      <p:pic>
        <p:nvPicPr>
          <p:cNvPr id="316" name="Google Shape;31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6043" y="3205163"/>
            <a:ext cx="1466851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4732" y="4653038"/>
            <a:ext cx="333057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 err="1"/>
              <a:t>Passo</a:t>
            </a:r>
            <a:r>
              <a:rPr lang="en-US" dirty="0"/>
              <a:t> 3: </a:t>
            </a:r>
            <a:r>
              <a:rPr lang="en-US" dirty="0" err="1"/>
              <a:t>Construir</a:t>
            </a:r>
            <a:r>
              <a:rPr lang="en-US" dirty="0"/>
              <a:t> um </a:t>
            </a:r>
            <a:r>
              <a:rPr lang="en-US" dirty="0" err="1"/>
              <a:t>intervalo</a:t>
            </a:r>
            <a:r>
              <a:rPr lang="en-US" dirty="0"/>
              <a:t> de </a:t>
            </a:r>
            <a:r>
              <a:rPr lang="en-US" dirty="0" err="1"/>
              <a:t>confiança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		, para o valor da </a:t>
            </a:r>
            <a:r>
              <a:rPr lang="en-US" dirty="0" err="1"/>
              <a:t>média</a:t>
            </a:r>
            <a:r>
              <a:rPr lang="en-US" dirty="0"/>
              <a:t> das </a:t>
            </a:r>
            <a:r>
              <a:rPr lang="en-US" dirty="0" err="1"/>
              <a:t>diferenças</a:t>
            </a:r>
            <a:endParaRPr dirty="0"/>
          </a:p>
        </p:txBody>
      </p:sp>
      <p:pic>
        <p:nvPicPr>
          <p:cNvPr id="324" name="Google Shape;32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0344" y="1827984"/>
            <a:ext cx="1325562" cy="120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8681" y="3246961"/>
            <a:ext cx="2536826" cy="127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4567" y="5181946"/>
            <a:ext cx="958852" cy="3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5696" y="5065713"/>
            <a:ext cx="311151" cy="3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348" r="-1109" b="-24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pic>
        <p:nvPicPr>
          <p:cNvPr id="334" name="Google Shape;334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6239" y="1722811"/>
            <a:ext cx="958852" cy="3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593" y="2205956"/>
            <a:ext cx="2001839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41" name="Google Shape;34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Exemplo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95% de confiança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Alternativa 1: </a:t>
            </a:r>
            <a:br>
              <a:rPr lang="en-US"/>
            </a:br>
            <a:r>
              <a:rPr lang="en-US"/>
              <a:t>[2,018; 3,433]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Alternativa 2: </a:t>
            </a:r>
            <a:br>
              <a:rPr lang="en-US"/>
            </a:br>
            <a:r>
              <a:rPr lang="en-US"/>
              <a:t>[3,129; 3,962]</a:t>
            </a:r>
            <a:endParaRPr/>
          </a:p>
        </p:txBody>
      </p:sp>
      <p:pic>
        <p:nvPicPr>
          <p:cNvPr id="342" name="Google Shape;34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5115" y="2282081"/>
            <a:ext cx="5135898" cy="454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48" name="Google Shape;348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Distribuição </a:t>
            </a:r>
            <a:r>
              <a:rPr lang="en-US" i="1"/>
              <a:t>t</a:t>
            </a:r>
            <a:r>
              <a:rPr lang="en-US"/>
              <a:t> de Student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Precisão para o intervalo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Intervalo de confiança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O tempo médio da alternativa 1 é menor do que alternativa 2</a:t>
            </a:r>
            <a:endParaRPr/>
          </a:p>
        </p:txBody>
      </p:sp>
      <p:pic>
        <p:nvPicPr>
          <p:cNvPr id="349" name="Google Shape;34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6694" y="2048120"/>
            <a:ext cx="3773947" cy="56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0632" y="2945050"/>
            <a:ext cx="4856318" cy="96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7138" y="4314683"/>
            <a:ext cx="5149853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4100" y="4776148"/>
            <a:ext cx="2954339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58" name="Google Shape;358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Caso 2: amostras de tamanhos diferentes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Segue a mesma ideia do Caso 1, mas são calculadas a média e o desvio padrão para cada amostra</a:t>
            </a:r>
            <a:endParaRPr/>
          </a:p>
        </p:txBody>
      </p:sp>
      <p:pic>
        <p:nvPicPr>
          <p:cNvPr id="359" name="Google Shape;35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284" y="3591053"/>
            <a:ext cx="1466850" cy="12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838" y="5101033"/>
            <a:ext cx="2620963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91922" y="3591053"/>
            <a:ext cx="1523999" cy="12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9338" y="5101033"/>
            <a:ext cx="27336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Comparar Resultados</a:t>
            </a:r>
            <a:endParaRPr/>
          </a:p>
        </p:txBody>
      </p:sp>
      <p:sp>
        <p:nvSpPr>
          <p:cNvPr id="368" name="Google Shape;368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intervalo de confiança é dado por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Onde </a:t>
            </a:r>
            <a:r>
              <a:rPr lang="en-US" i="1"/>
              <a:t>V</a:t>
            </a:r>
            <a:r>
              <a:rPr lang="en-US"/>
              <a:t> é o número de graus de liberdade, obtido por: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Arredondado para o inteiro acima.</a:t>
            </a:r>
            <a:endParaRPr/>
          </a:p>
        </p:txBody>
      </p:sp>
      <p:pic>
        <p:nvPicPr>
          <p:cNvPr id="369" name="Google Shape;36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3961" y="2203753"/>
            <a:ext cx="3160710" cy="93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7517" y="4317380"/>
            <a:ext cx="5954714" cy="8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A2BAD-B9B0-46FF-92F3-F6B5D359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</a:t>
            </a:r>
            <a:r>
              <a:rPr lang="pt-BR" dirty="0" err="1"/>
              <a:t>Student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48667A-5075-8FE9-A768-C9D59224B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BD752E-D5DA-20E8-30A4-1D53BF57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35" y="1329070"/>
            <a:ext cx="2679217" cy="5528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59F261F-7D38-48C5-0ED5-2694F8EB5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251" y="1329068"/>
            <a:ext cx="2550719" cy="552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4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376" name="Google Shape;376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6 “Dimensionamento de corridas e análise dos resultados de um modelo de simulação” do livro texto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Anexo VI – Tabelas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Valores Críticos para a Distribuição </a:t>
            </a:r>
            <a:r>
              <a:rPr lang="en-US" i="1"/>
              <a:t>t</a:t>
            </a:r>
            <a:r>
              <a:rPr lang="en-US"/>
              <a:t> de Student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843</Words>
  <Application>Microsoft Macintosh PowerPoint</Application>
  <PresentationFormat>Apresentação na tela (4:3)</PresentationFormat>
  <Paragraphs>170</Paragraphs>
  <Slides>30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Office Theme</vt:lpstr>
      <vt:lpstr>Office Theme</vt:lpstr>
      <vt:lpstr>Modelagem e Simulação Dimensionamento e Análise de Resultados - Parte II</vt:lpstr>
      <vt:lpstr>Aula Anterior</vt:lpstr>
      <vt:lpstr>Agenda</vt:lpstr>
      <vt:lpstr>Precisão</vt:lpstr>
      <vt:lpstr>Precisão</vt:lpstr>
      <vt:lpstr>Precisão</vt:lpstr>
      <vt:lpstr>Precisão</vt:lpstr>
      <vt:lpstr>Precisão</vt:lpstr>
      <vt:lpstr>Precisão</vt:lpstr>
      <vt:lpstr>Precisão</vt:lpstr>
      <vt:lpstr>Precisão</vt:lpstr>
      <vt:lpstr>Precisão</vt:lpstr>
      <vt:lpstr>Precisão</vt:lpstr>
      <vt:lpstr>Precisão</vt:lpstr>
      <vt:lpstr>Análise dos Dados de Saída</vt:lpstr>
      <vt:lpstr>Análise dos Dados de Saída</vt:lpstr>
      <vt:lpstr>Análise dos Dados de Saída</vt:lpstr>
      <vt:lpstr>Análise dos Dados de Saída</vt:lpstr>
      <vt:lpstr>Análise dos Dados de Saída</vt:lpstr>
      <vt:lpstr>Comparar Resultados</vt:lpstr>
      <vt:lpstr>Comparar Resultados</vt:lpstr>
      <vt:lpstr>Comparar Resultados</vt:lpstr>
      <vt:lpstr>Comparar Resultados</vt:lpstr>
      <vt:lpstr>Comparar Resultados</vt:lpstr>
      <vt:lpstr>Comparar Resultados</vt:lpstr>
      <vt:lpstr>Comparar Resultados</vt:lpstr>
      <vt:lpstr>Comparar Resultados</vt:lpstr>
      <vt:lpstr>Comparar Resultados</vt:lpstr>
      <vt:lpstr>Distribuição Student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2024-11-26T13:47:24Z</dcterms:modified>
</cp:coreProperties>
</file>