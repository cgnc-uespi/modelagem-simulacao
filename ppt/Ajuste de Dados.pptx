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AD865-0A42-8841-814A-142F8E3BC80E}" v="1" dt="2024-10-08T13:55:04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58"/>
  </p:normalViewPr>
  <p:slideViewPr>
    <p:cSldViewPr snapToGrid="0">
      <p:cViewPr varScale="1">
        <p:scale>
          <a:sx n="120" d="100"/>
          <a:sy n="120" d="100"/>
        </p:scale>
        <p:origin x="29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4ADAD865-0A42-8841-814A-142F8E3BC80E}"/>
    <pc:docChg chg="custSel addSld modSld">
      <pc:chgData name="Carlos Giovanni N. de Carvalho" userId="2892a39a5793b0a7" providerId="LiveId" clId="{4ADAD865-0A42-8841-814A-142F8E3BC80E}" dt="2024-10-08T13:55:12.401" v="42" actId="1076"/>
      <pc:docMkLst>
        <pc:docMk/>
      </pc:docMkLst>
      <pc:sldChg chg="addSp delSp modSp add mod">
        <pc:chgData name="Carlos Giovanni N. de Carvalho" userId="2892a39a5793b0a7" providerId="LiveId" clId="{4ADAD865-0A42-8841-814A-142F8E3BC80E}" dt="2024-10-08T13:55:12.401" v="42" actId="1076"/>
        <pc:sldMkLst>
          <pc:docMk/>
          <pc:sldMk cId="1440518189" sldId="266"/>
        </pc:sldMkLst>
        <pc:spChg chg="mod">
          <ac:chgData name="Carlos Giovanni N. de Carvalho" userId="2892a39a5793b0a7" providerId="LiveId" clId="{4ADAD865-0A42-8841-814A-142F8E3BC80E}" dt="2024-10-08T13:54:18.752" v="39" actId="20577"/>
          <ac:spMkLst>
            <pc:docMk/>
            <pc:sldMk cId="1440518189" sldId="266"/>
            <ac:spMk id="109" creationId="{E232E1EC-429E-7FC7-72A1-8EEAF8D8E396}"/>
          </ac:spMkLst>
        </pc:spChg>
        <pc:picChg chg="add mod">
          <ac:chgData name="Carlos Giovanni N. de Carvalho" userId="2892a39a5793b0a7" providerId="LiveId" clId="{4ADAD865-0A42-8841-814A-142F8E3BC80E}" dt="2024-10-08T13:55:12.401" v="42" actId="1076"/>
          <ac:picMkLst>
            <pc:docMk/>
            <pc:sldMk cId="1440518189" sldId="266"/>
            <ac:picMk id="2" creationId="{0F6234F8-71A0-1ECB-C211-1597C58BF422}"/>
          </ac:picMkLst>
        </pc:picChg>
        <pc:picChg chg="del">
          <ac:chgData name="Carlos Giovanni N. de Carvalho" userId="2892a39a5793b0a7" providerId="LiveId" clId="{4ADAD865-0A42-8841-814A-142F8E3BC80E}" dt="2024-10-08T13:53:25.143" v="1" actId="478"/>
          <ac:picMkLst>
            <pc:docMk/>
            <pc:sldMk cId="1440518189" sldId="266"/>
            <ac:picMk id="110" creationId="{CF2E0C75-F3C8-B8E7-3147-665FB98789C4}"/>
          </ac:picMkLst>
        </pc:picChg>
      </pc:sldChg>
    </pc:docChg>
  </pc:docChgLst>
  <pc:docChgLst>
    <pc:chgData name="Carlos Giovanni N. de Carvalho" userId="2892a39a5793b0a7" providerId="LiveId" clId="{852E9562-2973-0940-B062-9EB74209C00C}"/>
    <pc:docChg chg="modSld">
      <pc:chgData name="Carlos Giovanni N. de Carvalho" userId="2892a39a5793b0a7" providerId="LiveId" clId="{852E9562-2973-0940-B062-9EB74209C00C}" dt="2024-09-11T15:53:02.114" v="0" actId="20577"/>
      <pc:docMkLst>
        <pc:docMk/>
      </pc:docMkLst>
      <pc:sldChg chg="modSp mod">
        <pc:chgData name="Carlos Giovanni N. de Carvalho" userId="2892a39a5793b0a7" providerId="LiveId" clId="{852E9562-2973-0940-B062-9EB74209C00C}" dt="2024-09-11T15:53:02.114" v="0" actId="20577"/>
        <pc:sldMkLst>
          <pc:docMk/>
          <pc:sldMk cId="0" sldId="256"/>
        </pc:sldMkLst>
        <pc:spChg chg="mod">
          <ac:chgData name="Carlos Giovanni N. de Carvalho" userId="2892a39a5793b0a7" providerId="LiveId" clId="{852E9562-2973-0940-B062-9EB74209C00C}" dt="2024-09-11T15:53:02.114" v="0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C1E6AD-929D-6CD2-F5F8-B0A4B784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>
            <a:extLst>
              <a:ext uri="{FF2B5EF4-FFF2-40B4-BE49-F238E27FC236}">
                <a16:creationId xmlns:a16="http://schemas.microsoft.com/office/drawing/2014/main" id="{ECBC8375-B132-3E3C-6383-9B75D1A94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>
            <a:extLst>
              <a:ext uri="{FF2B5EF4-FFF2-40B4-BE49-F238E27FC236}">
                <a16:creationId xmlns:a16="http://schemas.microsoft.com/office/drawing/2014/main" id="{164D05E1-82A2-046A-1467-75188BA76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9910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br>
              <a:rPr lang="en-US" sz="3959"/>
            </a:br>
            <a:r>
              <a:rPr lang="en-US" sz="3959"/>
              <a:t>(</a:t>
            </a:r>
            <a:r>
              <a:rPr lang="en-US" sz="3959" dirty="0" err="1"/>
              <a:t>Ajuste</a:t>
            </a:r>
            <a:r>
              <a:rPr lang="en-US" sz="3959" dirty="0"/>
              <a:t> de Dados)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Teste de aderência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Teste do qui-quadrado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Teste Kolmogorov-Smirnov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Ajuste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Outras formas de modelagem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Quando não temos dados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Séries históricas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Ajuste de Dados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modelagem termina com um teste estatístico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Para verificar a aderência do modelo probabilístico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que é </a:t>
            </a:r>
            <a:r>
              <a:rPr lang="en-US" i="1"/>
              <a:t>p-value</a:t>
            </a:r>
            <a:r>
              <a:rPr lang="en-US"/>
              <a:t>?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Alguns softwares permitem tomar a decisão de rejeição ou não da hipótese de aderência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Nível descritivo (</a:t>
            </a:r>
            <a:r>
              <a:rPr lang="en-US" i="1"/>
              <a:t>p-value</a:t>
            </a:r>
            <a:r>
              <a:rPr lang="en-US"/>
              <a:t>)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Menor nível de significância que pode ser assumido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Ajuste de Dados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57400" lvl="4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Se </a:t>
            </a:r>
            <a:r>
              <a:rPr lang="en-US" i="1"/>
              <a:t>p-value &lt;= α</a:t>
            </a:r>
            <a:r>
              <a:rPr lang="en-US"/>
              <a:t>, então, </a:t>
            </a:r>
            <a:r>
              <a:rPr lang="en-US" i="1"/>
              <a:t>H</a:t>
            </a:r>
            <a:r>
              <a:rPr lang="en-US" i="1" baseline="-25000"/>
              <a:t>o</a:t>
            </a:r>
            <a:r>
              <a:rPr lang="en-US"/>
              <a:t> é rejeitada ao nível de significância </a:t>
            </a:r>
            <a:r>
              <a:rPr lang="en-US" i="1"/>
              <a:t>α</a:t>
            </a:r>
            <a:r>
              <a:rPr lang="en-US"/>
              <a:t>;</a:t>
            </a:r>
            <a:endParaRPr/>
          </a:p>
          <a:p>
            <a:pPr marL="2057400" lvl="4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</a:pPr>
            <a:r>
              <a:rPr lang="en-US"/>
              <a:t>Se </a:t>
            </a:r>
            <a:r>
              <a:rPr lang="en-US" i="1"/>
              <a:t>p-value &gt; α</a:t>
            </a:r>
            <a:r>
              <a:rPr lang="en-US"/>
              <a:t>, então, </a:t>
            </a:r>
            <a:r>
              <a:rPr lang="en-US" i="1"/>
              <a:t>H</a:t>
            </a:r>
            <a:r>
              <a:rPr lang="en-US" i="1" baseline="-25000"/>
              <a:t>o</a:t>
            </a:r>
            <a:r>
              <a:rPr lang="en-US"/>
              <a:t> não é rejeitada ao nível de significância </a:t>
            </a:r>
            <a:r>
              <a:rPr lang="en-US" i="1"/>
              <a:t>α</a:t>
            </a:r>
            <a:r>
              <a:rPr lang="en-US"/>
              <a:t>.</a:t>
            </a:r>
            <a:endParaRPr/>
          </a:p>
          <a:p>
            <a:pPr marL="1600200" lvl="3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Quanto menor o </a:t>
            </a:r>
            <a:r>
              <a:rPr lang="en-US" i="1"/>
              <a:t>p-value</a:t>
            </a:r>
            <a:r>
              <a:rPr lang="en-US"/>
              <a:t>, mais razões temos para rejeitar a hipótese de aderência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355" y="3762321"/>
            <a:ext cx="5303704" cy="2780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7DE3700-56B6-5BFF-8573-D6C7CCDB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>
            <a:extLst>
              <a:ext uri="{FF2B5EF4-FFF2-40B4-BE49-F238E27FC236}">
                <a16:creationId xmlns:a16="http://schemas.microsoft.com/office/drawing/2014/main" id="{8A12BB5B-5462-7101-F4DB-ACD020184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Ajuste de Dados</a:t>
            </a:r>
            <a:endParaRPr/>
          </a:p>
        </p:txBody>
      </p:sp>
      <p:sp>
        <p:nvSpPr>
          <p:cNvPr id="109" name="Google Shape;109;p17">
            <a:extLst>
              <a:ext uri="{FF2B5EF4-FFF2-40B4-BE49-F238E27FC236}">
                <a16:creationId xmlns:a16="http://schemas.microsoft.com/office/drawing/2014/main" id="{E232E1EC-429E-7FC7-72A1-8EEAF8D8E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SzPts val="2000"/>
            </a:pPr>
            <a:r>
              <a:rPr lang="pt-BR" dirty="0"/>
              <a:t>Ver código </a:t>
            </a:r>
            <a:r>
              <a:rPr lang="pt-BR" dirty="0" err="1"/>
              <a:t>P_value.ipynb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F6234F8-71A0-1ECB-C211-1597C58B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774" y="2251250"/>
            <a:ext cx="5470451" cy="42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18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Outras Formas de Modelagem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Duas outras formas de modelagem mais comuns são: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Modelagem quando não temos dados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Séries históricas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Quando não temos dados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Ocorre normalmente em três situações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Projeto de sistema que ainda não existem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Quando o custo de coleta de dados é alto ou inviável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Quando os dados não são fornecidos pelo usuário (confidencialidade, entre outras razões)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Outras Formas de Modelagem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Nestes casos, a regra prática é procurar, inicialmente, utilizar as distribuições de parâmetros mais intuitivos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Exponencial, triangular, normal, uniforme e discreta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Outras Formas de Modelagem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Características das distribuições mais comuns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04947"/>
            <a:ext cx="9144000" cy="36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Outras Formas de Modelagem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Trace files (séries históricas)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Ao invés de modelar os dados, utiliza-se a própria série histórica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Normalmente com longo período de tempo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Caso os dados estejam disponíveis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 o sistema não sofrerá grandes mudanças de comportamento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é recomendada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Sistema a qual prevê-se grandes alterações no futuro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Poucos dados do passado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2 “Modelagem dos Dados de Entrada” do livro texto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Apêndice VII – Distribuições estatísticas, no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349</Words>
  <Application>Microsoft Macintosh PowerPoint</Application>
  <PresentationFormat>Apresentação na tela (4:3)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Modelagem e Simulação (Ajuste de Dados)</vt:lpstr>
      <vt:lpstr>Aula Anterior</vt:lpstr>
      <vt:lpstr>Agenda</vt:lpstr>
      <vt:lpstr>Ajuste de Dados</vt:lpstr>
      <vt:lpstr>Ajuste de Dados</vt:lpstr>
      <vt:lpstr>Ajuste de Dados</vt:lpstr>
      <vt:lpstr>Outras Formas de Modelagem</vt:lpstr>
      <vt:lpstr>Outras Formas de Modelagem</vt:lpstr>
      <vt:lpstr>Outras Formas de Modelagem</vt:lpstr>
      <vt:lpstr>Outras Formas de Modelagem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2024-10-08T13:55:14Z</dcterms:modified>
</cp:coreProperties>
</file>